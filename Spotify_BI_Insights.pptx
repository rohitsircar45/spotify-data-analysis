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10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3096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6217920" y="-1645920"/>
            <a:ext cx="5029200" cy="5029200"/>
          </a:xfrm>
          <a:prstGeom prst="ellipse">
            <a:avLst/>
          </a:prstGeom>
          <a:solidFill>
            <a:srgbClr val="1DB954">
              <a:alpha val="15000"/>
            </a:srgbClr>
          </a:solidFill>
          <a:ln w="12700">
            <a:solidFill>
              <a:srgbClr val="1DB954">
                <a:alpha val="15000"/>
              </a:srgbClr>
            </a:solidFill>
            <a:prstDash val="solid"/>
          </a:ln>
        </p:spPr>
        <p:txBody>
          <a:bodyPr/>
          <a:lstStyle/>
          <a:p>
            <a:endParaRPr lang="en-US"/>
          </a:p>
        </p:txBody>
      </p:sp>
      <p:sp>
        <p:nvSpPr>
          <p:cNvPr id="3" name="Shape 1"/>
          <p:cNvSpPr/>
          <p:nvPr/>
        </p:nvSpPr>
        <p:spPr>
          <a:xfrm>
            <a:off x="7132320" y="-548640"/>
            <a:ext cx="2926080" cy="2926080"/>
          </a:xfrm>
          <a:prstGeom prst="ellipse">
            <a:avLst/>
          </a:prstGeom>
          <a:solidFill>
            <a:srgbClr val="1DB954">
              <a:alpha val="30000"/>
            </a:srgbClr>
          </a:solidFill>
          <a:ln w="12700">
            <a:solidFill>
              <a:srgbClr val="1DB954">
                <a:alpha val="30000"/>
              </a:srgbClr>
            </a:solidFill>
            <a:prstDash val="solid"/>
          </a:ln>
        </p:spPr>
        <p:txBody>
          <a:bodyPr/>
          <a:lstStyle/>
          <a:p>
            <a:endParaRPr lang="en-US"/>
          </a:p>
        </p:txBody>
      </p:sp>
      <p:sp>
        <p:nvSpPr>
          <p:cNvPr id="4" name="Shape 2"/>
          <p:cNvSpPr/>
          <p:nvPr/>
        </p:nvSpPr>
        <p:spPr>
          <a:xfrm>
            <a:off x="502920" y="457200"/>
            <a:ext cx="1005840" cy="384048"/>
          </a:xfrm>
          <a:prstGeom prst="roundRect">
            <a:avLst>
              <a:gd name="adj" fmla="val 14286"/>
            </a:avLst>
          </a:prstGeom>
          <a:solidFill>
            <a:srgbClr val="1DB954"/>
          </a:solidFill>
          <a:ln w="12700">
            <a:solidFill>
              <a:srgbClr val="1DB954"/>
            </a:solidFill>
            <a:prstDash val="solid"/>
          </a:ln>
        </p:spPr>
        <p:txBody>
          <a:bodyPr/>
          <a:lstStyle/>
          <a:p>
            <a:endParaRPr lang="en-US"/>
          </a:p>
        </p:txBody>
      </p:sp>
      <p:sp>
        <p:nvSpPr>
          <p:cNvPr id="5" name="Text 3"/>
          <p:cNvSpPr/>
          <p:nvPr/>
        </p:nvSpPr>
        <p:spPr>
          <a:xfrm>
            <a:off x="502920" y="457200"/>
            <a:ext cx="1005840" cy="384048"/>
          </a:xfrm>
          <a:prstGeom prst="rect">
            <a:avLst/>
          </a:prstGeom>
          <a:noFill/>
          <a:ln/>
        </p:spPr>
        <p:txBody>
          <a:bodyPr wrap="square" lIns="0" tIns="0" rIns="0" bIns="0" rtlCol="0" anchor="ctr"/>
          <a:lstStyle/>
          <a:p>
            <a:pPr marL="0" indent="0" algn="ctr">
              <a:buNone/>
            </a:pPr>
            <a:r>
              <a:rPr lang="en-US" sz="1100" b="1" dirty="0">
                <a:solidFill>
                  <a:srgbClr val="121212"/>
                </a:solidFill>
                <a:latin typeface="Trebuchet MS" pitchFamily="34" charset="0"/>
                <a:ea typeface="Trebuchet MS" pitchFamily="34" charset="-122"/>
                <a:cs typeface="Trebuchet MS" pitchFamily="34" charset="-120"/>
              </a:rPr>
              <a:t>SPOTIFY</a:t>
            </a:r>
            <a:endParaRPr lang="en-US" sz="1100" dirty="0"/>
          </a:p>
        </p:txBody>
      </p:sp>
      <p:sp>
        <p:nvSpPr>
          <p:cNvPr id="6" name="Text 4"/>
          <p:cNvSpPr/>
          <p:nvPr/>
        </p:nvSpPr>
        <p:spPr>
          <a:xfrm>
            <a:off x="457200" y="1005840"/>
            <a:ext cx="6858000" cy="1645920"/>
          </a:xfrm>
          <a:prstGeom prst="rect">
            <a:avLst/>
          </a:prstGeom>
          <a:noFill/>
          <a:ln/>
        </p:spPr>
        <p:txBody>
          <a:bodyPr wrap="square" lIns="0" tIns="0" rIns="0" bIns="0" rtlCol="0" anchor="ctr"/>
          <a:lstStyle/>
          <a:p>
            <a:pPr marL="0" indent="0">
              <a:buNone/>
            </a:pPr>
            <a:r>
              <a:rPr lang="en-US" sz="5800" b="1" dirty="0">
                <a:solidFill>
                  <a:srgbClr val="FFFFFF"/>
                </a:solidFill>
                <a:latin typeface="Trebuchet MS" pitchFamily="34" charset="0"/>
                <a:ea typeface="Trebuchet MS" pitchFamily="34" charset="-122"/>
                <a:cs typeface="Trebuchet MS" pitchFamily="34" charset="-120"/>
              </a:rPr>
              <a:t>What the Data</a:t>
            </a:r>
            <a:endParaRPr lang="en-US" sz="5800" dirty="0"/>
          </a:p>
          <a:p>
            <a:pPr marL="0" indent="0">
              <a:buNone/>
            </a:pPr>
            <a:r>
              <a:rPr lang="en-US" sz="5800" b="1" dirty="0">
                <a:solidFill>
                  <a:srgbClr val="FFFFFF"/>
                </a:solidFill>
                <a:latin typeface="Trebuchet MS" pitchFamily="34" charset="0"/>
                <a:ea typeface="Trebuchet MS" pitchFamily="34" charset="-122"/>
                <a:cs typeface="Trebuchet MS" pitchFamily="34" charset="-120"/>
              </a:rPr>
              <a:t>Tells Us</a:t>
            </a:r>
            <a:endParaRPr lang="en-US" sz="5800" dirty="0"/>
          </a:p>
        </p:txBody>
      </p:sp>
      <p:sp>
        <p:nvSpPr>
          <p:cNvPr id="7" name="Text 5"/>
          <p:cNvSpPr/>
          <p:nvPr/>
        </p:nvSpPr>
        <p:spPr>
          <a:xfrm>
            <a:off x="457200" y="2697480"/>
            <a:ext cx="6400800" cy="502920"/>
          </a:xfrm>
          <a:prstGeom prst="rect">
            <a:avLst/>
          </a:prstGeom>
          <a:noFill/>
          <a:ln/>
        </p:spPr>
        <p:txBody>
          <a:bodyPr wrap="square" lIns="0" tIns="0" rIns="0" bIns="0" rtlCol="0" anchor="ctr"/>
          <a:lstStyle/>
          <a:p>
            <a:pPr marL="0" indent="0">
              <a:buNone/>
            </a:pPr>
            <a:r>
              <a:rPr lang="en-US" sz="2200" dirty="0">
                <a:solidFill>
                  <a:srgbClr val="1DB954"/>
                </a:solidFill>
                <a:latin typeface="Trebuchet MS" pitchFamily="34" charset="0"/>
                <a:ea typeface="Trebuchet MS" pitchFamily="34" charset="-122"/>
                <a:cs typeface="Trebuchet MS" pitchFamily="34" charset="-120"/>
              </a:rPr>
              <a:t>Streaming Insights &amp; Artist Performance</a:t>
            </a:r>
            <a:endParaRPr lang="en-US" sz="2200" dirty="0"/>
          </a:p>
        </p:txBody>
      </p:sp>
      <p:sp>
        <p:nvSpPr>
          <p:cNvPr id="8" name="Text 6"/>
          <p:cNvSpPr/>
          <p:nvPr/>
        </p:nvSpPr>
        <p:spPr>
          <a:xfrm>
            <a:off x="457200" y="3337560"/>
            <a:ext cx="7315200" cy="365760"/>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A look at what drives views, engagement, and streams across the catalogue</a:t>
            </a:r>
            <a:endParaRPr lang="en-US" sz="1300" dirty="0"/>
          </a:p>
        </p:txBody>
      </p:sp>
      <p:sp>
        <p:nvSpPr>
          <p:cNvPr id="9" name="Shape 7"/>
          <p:cNvSpPr/>
          <p:nvPr/>
        </p:nvSpPr>
        <p:spPr>
          <a:xfrm>
            <a:off x="-1371600" y="3840480"/>
            <a:ext cx="5486400" cy="2743200"/>
          </a:xfrm>
          <a:prstGeom prst="ellipse">
            <a:avLst/>
          </a:prstGeom>
          <a:solidFill>
            <a:srgbClr val="282828"/>
          </a:solidFill>
          <a:ln w="12700">
            <a:solidFill>
              <a:srgbClr val="282828"/>
            </a:solidFill>
            <a:prstDash val="solid"/>
          </a:ln>
        </p:spPr>
        <p:txBody>
          <a:bodyPr/>
          <a:lstStyle/>
          <a:p>
            <a:endParaRPr lang="en-US"/>
          </a:p>
        </p:txBody>
      </p:sp>
      <p:sp>
        <p:nvSpPr>
          <p:cNvPr id="10" name="Shape 8"/>
          <p:cNvSpPr/>
          <p:nvPr/>
        </p:nvSpPr>
        <p:spPr>
          <a:xfrm>
            <a:off x="6858000" y="4114800"/>
            <a:ext cx="3657600" cy="2286000"/>
          </a:xfrm>
          <a:prstGeom prst="ellipse">
            <a:avLst/>
          </a:prstGeom>
          <a:solidFill>
            <a:srgbClr val="158A3E">
              <a:alpha val="40000"/>
            </a:srgbClr>
          </a:solidFill>
          <a:ln w="12700">
            <a:solidFill>
              <a:srgbClr val="158A3E">
                <a:alpha val="40000"/>
              </a:srgbClr>
            </a:solidFill>
            <a:prstDash val="solid"/>
          </a:ln>
        </p:spPr>
        <p:txBody>
          <a:bodyPr/>
          <a:lstStyle/>
          <a:p>
            <a:endParaRPr lang="en-US"/>
          </a:p>
        </p:txBody>
      </p:sp>
      <p:sp>
        <p:nvSpPr>
          <p:cNvPr id="11" name="TextBox 10">
            <a:extLst>
              <a:ext uri="{FF2B5EF4-FFF2-40B4-BE49-F238E27FC236}">
                <a16:creationId xmlns:a16="http://schemas.microsoft.com/office/drawing/2014/main" id="{01C712A2-96F0-CD86-57A5-1DBE05E9A849}"/>
              </a:ext>
            </a:extLst>
          </p:cNvPr>
          <p:cNvSpPr txBox="1"/>
          <p:nvPr/>
        </p:nvSpPr>
        <p:spPr>
          <a:xfrm>
            <a:off x="502920" y="4025900"/>
            <a:ext cx="1809750" cy="369332"/>
          </a:xfrm>
          <a:prstGeom prst="rect">
            <a:avLst/>
          </a:prstGeom>
          <a:noFill/>
        </p:spPr>
        <p:txBody>
          <a:bodyPr wrap="square" rtlCol="0">
            <a:spAutoFit/>
          </a:bodyPr>
          <a:lstStyle/>
          <a:p>
            <a:r>
              <a:rPr lang="en-US" dirty="0">
                <a:solidFill>
                  <a:schemeClr val="bg1"/>
                </a:solidFill>
              </a:rPr>
              <a:t>By Rohit Sircar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The Big Picture</a:t>
            </a:r>
            <a:endParaRPr lang="en-US" sz="3600" dirty="0"/>
          </a:p>
        </p:txBody>
      </p:sp>
      <p:sp>
        <p:nvSpPr>
          <p:cNvPr id="3" name="Text 1"/>
          <p:cNvSpPr/>
          <p:nvPr/>
        </p:nvSpPr>
        <p:spPr>
          <a:xfrm>
            <a:off x="457200" y="877824"/>
            <a:ext cx="8229600" cy="320040"/>
          </a:xfrm>
          <a:prstGeom prst="rect">
            <a:avLst/>
          </a:prstGeom>
          <a:noFill/>
          <a:ln/>
        </p:spPr>
        <p:txBody>
          <a:bodyPr wrap="square" lIns="0" tIns="0" rIns="0" bIns="0" rtlCol="0" anchor="ctr"/>
          <a:lstStyle/>
          <a:p>
            <a:pPr marL="0" indent="0">
              <a:buNone/>
            </a:pPr>
            <a:r>
              <a:rPr lang="en-US" sz="1400" dirty="0">
                <a:solidFill>
                  <a:srgbClr val="1DB954"/>
                </a:solidFill>
                <a:latin typeface="Calibri" pitchFamily="34" charset="0"/>
                <a:ea typeface="Calibri" pitchFamily="34" charset="-122"/>
                <a:cs typeface="Calibri" pitchFamily="34" charset="-120"/>
              </a:rPr>
              <a:t>Six business questions, six ways to make smarter decisions</a:t>
            </a:r>
            <a:endParaRPr lang="en-US" sz="1400" dirty="0"/>
          </a:p>
        </p:txBody>
      </p:sp>
      <p:sp>
        <p:nvSpPr>
          <p:cNvPr id="4" name="Shape 2"/>
          <p:cNvSpPr/>
          <p:nvPr/>
        </p:nvSpPr>
        <p:spPr>
          <a:xfrm>
            <a:off x="365760" y="1371600"/>
            <a:ext cx="4160520" cy="1005840"/>
          </a:xfrm>
          <a:prstGeom prst="rect">
            <a:avLst/>
          </a:prstGeom>
          <a:solidFill>
            <a:srgbClr val="282828"/>
          </a:solidFill>
          <a:ln w="12700">
            <a:solidFill>
              <a:srgbClr val="3E3E3E"/>
            </a:solidFill>
            <a:prstDash val="solid"/>
          </a:ln>
        </p:spPr>
        <p:txBody>
          <a:bodyPr/>
          <a:lstStyle/>
          <a:p>
            <a:endParaRPr lang="en-US"/>
          </a:p>
        </p:txBody>
      </p:sp>
      <p:sp>
        <p:nvSpPr>
          <p:cNvPr id="5" name="Shape 3"/>
          <p:cNvSpPr/>
          <p:nvPr/>
        </p:nvSpPr>
        <p:spPr>
          <a:xfrm>
            <a:off x="365760" y="1371600"/>
            <a:ext cx="54864" cy="1005840"/>
          </a:xfrm>
          <a:prstGeom prst="rect">
            <a:avLst/>
          </a:prstGeom>
          <a:solidFill>
            <a:srgbClr val="1DB954"/>
          </a:solidFill>
          <a:ln w="12700">
            <a:solidFill>
              <a:srgbClr val="1DB954"/>
            </a:solidFill>
            <a:prstDash val="solid"/>
          </a:ln>
        </p:spPr>
        <p:txBody>
          <a:bodyPr/>
          <a:lstStyle/>
          <a:p>
            <a:endParaRPr lang="en-US"/>
          </a:p>
        </p:txBody>
      </p:sp>
      <p:sp>
        <p:nvSpPr>
          <p:cNvPr id="6" name="Text 4"/>
          <p:cNvSpPr/>
          <p:nvPr/>
        </p:nvSpPr>
        <p:spPr>
          <a:xfrm>
            <a:off x="530352" y="1463040"/>
            <a:ext cx="457200" cy="457200"/>
          </a:xfrm>
          <a:prstGeom prst="rect">
            <a:avLst/>
          </a:prstGeom>
          <a:noFill/>
          <a:ln/>
        </p:spPr>
        <p:txBody>
          <a:bodyPr wrap="square" lIns="0" tIns="0" rIns="0" bIns="0" rtlCol="0" anchor="ctr"/>
          <a:lstStyle/>
          <a:p>
            <a:pPr marL="0" indent="0">
              <a:buNone/>
            </a:pPr>
            <a:r>
              <a:rPr lang="en-US" sz="2000" b="1" dirty="0">
                <a:solidFill>
                  <a:srgbClr val="1DB954"/>
                </a:solidFill>
                <a:latin typeface="Trebuchet MS" pitchFamily="34" charset="0"/>
                <a:ea typeface="Trebuchet MS" pitchFamily="34" charset="-122"/>
                <a:cs typeface="Trebuchet MS" pitchFamily="34" charset="-120"/>
              </a:rPr>
              <a:t>01</a:t>
            </a:r>
            <a:endParaRPr lang="en-US" sz="2000" dirty="0"/>
          </a:p>
        </p:txBody>
      </p:sp>
      <p:sp>
        <p:nvSpPr>
          <p:cNvPr id="7" name="Text 5"/>
          <p:cNvSpPr/>
          <p:nvPr/>
        </p:nvSpPr>
        <p:spPr>
          <a:xfrm>
            <a:off x="1024128" y="1508760"/>
            <a:ext cx="2743200" cy="45720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Which track defines each artist?</a:t>
            </a:r>
            <a:endParaRPr lang="en-US" sz="1500" dirty="0"/>
          </a:p>
        </p:txBody>
      </p:sp>
      <p:sp>
        <p:nvSpPr>
          <p:cNvPr id="8" name="Text 6"/>
          <p:cNvSpPr/>
          <p:nvPr/>
        </p:nvSpPr>
        <p:spPr>
          <a:xfrm>
            <a:off x="1024128" y="1993392"/>
            <a:ext cx="2286000" cy="292608"/>
          </a:xfrm>
          <a:prstGeom prst="rect">
            <a:avLst/>
          </a:prstGeom>
          <a:noFill/>
          <a:ln/>
        </p:spPr>
        <p:txBody>
          <a:bodyPr wrap="square" lIns="0" tIns="0" rIns="0" bIns="0" rtlCol="0" anchor="ctr"/>
          <a:lstStyle/>
          <a:p>
            <a:pPr marL="0" indent="0">
              <a:buNone/>
            </a:pPr>
            <a:r>
              <a:rPr lang="en-US" sz="1200" dirty="0">
                <a:solidFill>
                  <a:srgbClr val="1ED760"/>
                </a:solidFill>
                <a:latin typeface="Calibri" pitchFamily="34" charset="0"/>
                <a:ea typeface="Calibri" pitchFamily="34" charset="-122"/>
                <a:cs typeface="Calibri" pitchFamily="34" charset="-120"/>
              </a:rPr>
              <a:t>Content</a:t>
            </a:r>
            <a:endParaRPr lang="en-US" sz="1200" dirty="0"/>
          </a:p>
        </p:txBody>
      </p:sp>
      <p:sp>
        <p:nvSpPr>
          <p:cNvPr id="9" name="Shape 7"/>
          <p:cNvSpPr/>
          <p:nvPr/>
        </p:nvSpPr>
        <p:spPr>
          <a:xfrm>
            <a:off x="365760" y="2560320"/>
            <a:ext cx="4160520" cy="1005840"/>
          </a:xfrm>
          <a:prstGeom prst="rect">
            <a:avLst/>
          </a:prstGeom>
          <a:solidFill>
            <a:srgbClr val="282828"/>
          </a:solidFill>
          <a:ln w="12700">
            <a:solidFill>
              <a:srgbClr val="3E3E3E"/>
            </a:solidFill>
            <a:prstDash val="solid"/>
          </a:ln>
        </p:spPr>
        <p:txBody>
          <a:bodyPr/>
          <a:lstStyle/>
          <a:p>
            <a:endParaRPr lang="en-US"/>
          </a:p>
        </p:txBody>
      </p:sp>
      <p:sp>
        <p:nvSpPr>
          <p:cNvPr id="10" name="Shape 8"/>
          <p:cNvSpPr/>
          <p:nvPr/>
        </p:nvSpPr>
        <p:spPr>
          <a:xfrm>
            <a:off x="365760" y="2560320"/>
            <a:ext cx="54864" cy="1005840"/>
          </a:xfrm>
          <a:prstGeom prst="rect">
            <a:avLst/>
          </a:prstGeom>
          <a:solidFill>
            <a:srgbClr val="1DB954"/>
          </a:solidFill>
          <a:ln w="12700">
            <a:solidFill>
              <a:srgbClr val="1DB954"/>
            </a:solidFill>
            <a:prstDash val="solid"/>
          </a:ln>
        </p:spPr>
        <p:txBody>
          <a:bodyPr/>
          <a:lstStyle/>
          <a:p>
            <a:endParaRPr lang="en-US"/>
          </a:p>
        </p:txBody>
      </p:sp>
      <p:sp>
        <p:nvSpPr>
          <p:cNvPr id="11" name="Text 9"/>
          <p:cNvSpPr/>
          <p:nvPr/>
        </p:nvSpPr>
        <p:spPr>
          <a:xfrm>
            <a:off x="530352" y="2651760"/>
            <a:ext cx="457200" cy="457200"/>
          </a:xfrm>
          <a:prstGeom prst="rect">
            <a:avLst/>
          </a:prstGeom>
          <a:noFill/>
          <a:ln/>
        </p:spPr>
        <p:txBody>
          <a:bodyPr wrap="square" lIns="0" tIns="0" rIns="0" bIns="0" rtlCol="0" anchor="ctr"/>
          <a:lstStyle/>
          <a:p>
            <a:pPr marL="0" indent="0">
              <a:buNone/>
            </a:pPr>
            <a:r>
              <a:rPr lang="en-US" sz="2000" b="1" dirty="0">
                <a:solidFill>
                  <a:srgbClr val="1DB954"/>
                </a:solidFill>
                <a:latin typeface="Trebuchet MS" pitchFamily="34" charset="0"/>
                <a:ea typeface="Trebuchet MS" pitchFamily="34" charset="-122"/>
                <a:cs typeface="Trebuchet MS" pitchFamily="34" charset="-120"/>
              </a:rPr>
              <a:t>02</a:t>
            </a:r>
            <a:endParaRPr lang="en-US" sz="2000" dirty="0"/>
          </a:p>
        </p:txBody>
      </p:sp>
      <p:sp>
        <p:nvSpPr>
          <p:cNvPr id="12" name="Text 10"/>
          <p:cNvSpPr/>
          <p:nvPr/>
        </p:nvSpPr>
        <p:spPr>
          <a:xfrm>
            <a:off x="1024128" y="2697480"/>
            <a:ext cx="2743200" cy="45720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Which albums are worth re-promoting?</a:t>
            </a:r>
            <a:endParaRPr lang="en-US" sz="1500" dirty="0"/>
          </a:p>
        </p:txBody>
      </p:sp>
      <p:sp>
        <p:nvSpPr>
          <p:cNvPr id="13" name="Text 11"/>
          <p:cNvSpPr/>
          <p:nvPr/>
        </p:nvSpPr>
        <p:spPr>
          <a:xfrm>
            <a:off x="1024128" y="3182112"/>
            <a:ext cx="2286000" cy="292608"/>
          </a:xfrm>
          <a:prstGeom prst="rect">
            <a:avLst/>
          </a:prstGeom>
          <a:noFill/>
          <a:ln/>
        </p:spPr>
        <p:txBody>
          <a:bodyPr wrap="square" lIns="0" tIns="0" rIns="0" bIns="0" rtlCol="0" anchor="ctr"/>
          <a:lstStyle/>
          <a:p>
            <a:pPr marL="0" indent="0">
              <a:buNone/>
            </a:pPr>
            <a:r>
              <a:rPr lang="en-US" sz="1200" dirty="0">
                <a:solidFill>
                  <a:srgbClr val="1ED760"/>
                </a:solidFill>
                <a:latin typeface="Calibri" pitchFamily="34" charset="0"/>
                <a:ea typeface="Calibri" pitchFamily="34" charset="-122"/>
                <a:cs typeface="Calibri" pitchFamily="34" charset="-120"/>
              </a:rPr>
              <a:t>Catalog</a:t>
            </a:r>
            <a:endParaRPr lang="en-US" sz="1200" dirty="0"/>
          </a:p>
        </p:txBody>
      </p:sp>
      <p:sp>
        <p:nvSpPr>
          <p:cNvPr id="14" name="Shape 12"/>
          <p:cNvSpPr/>
          <p:nvPr/>
        </p:nvSpPr>
        <p:spPr>
          <a:xfrm>
            <a:off x="365760" y="3749040"/>
            <a:ext cx="4160520" cy="1005840"/>
          </a:xfrm>
          <a:prstGeom prst="rect">
            <a:avLst/>
          </a:prstGeom>
          <a:solidFill>
            <a:srgbClr val="282828"/>
          </a:solidFill>
          <a:ln w="12700">
            <a:solidFill>
              <a:srgbClr val="3E3E3E"/>
            </a:solidFill>
            <a:prstDash val="solid"/>
          </a:ln>
        </p:spPr>
        <p:txBody>
          <a:bodyPr/>
          <a:lstStyle/>
          <a:p>
            <a:endParaRPr lang="en-US"/>
          </a:p>
        </p:txBody>
      </p:sp>
      <p:sp>
        <p:nvSpPr>
          <p:cNvPr id="15" name="Shape 13"/>
          <p:cNvSpPr/>
          <p:nvPr/>
        </p:nvSpPr>
        <p:spPr>
          <a:xfrm>
            <a:off x="365760" y="3749040"/>
            <a:ext cx="54864" cy="1005840"/>
          </a:xfrm>
          <a:prstGeom prst="rect">
            <a:avLst/>
          </a:prstGeom>
          <a:solidFill>
            <a:srgbClr val="1DB954"/>
          </a:solidFill>
          <a:ln w="12700">
            <a:solidFill>
              <a:srgbClr val="1DB954"/>
            </a:solidFill>
            <a:prstDash val="solid"/>
          </a:ln>
        </p:spPr>
        <p:txBody>
          <a:bodyPr/>
          <a:lstStyle/>
          <a:p>
            <a:endParaRPr lang="en-US"/>
          </a:p>
        </p:txBody>
      </p:sp>
      <p:sp>
        <p:nvSpPr>
          <p:cNvPr id="16" name="Text 14"/>
          <p:cNvSpPr/>
          <p:nvPr/>
        </p:nvSpPr>
        <p:spPr>
          <a:xfrm>
            <a:off x="530352" y="3840480"/>
            <a:ext cx="457200" cy="457200"/>
          </a:xfrm>
          <a:prstGeom prst="rect">
            <a:avLst/>
          </a:prstGeom>
          <a:noFill/>
          <a:ln/>
        </p:spPr>
        <p:txBody>
          <a:bodyPr wrap="square" lIns="0" tIns="0" rIns="0" bIns="0" rtlCol="0" anchor="ctr"/>
          <a:lstStyle/>
          <a:p>
            <a:pPr marL="0" indent="0">
              <a:buNone/>
            </a:pPr>
            <a:r>
              <a:rPr lang="en-US" sz="2000" b="1" dirty="0">
                <a:solidFill>
                  <a:srgbClr val="1DB954"/>
                </a:solidFill>
                <a:latin typeface="Trebuchet MS" pitchFamily="34" charset="0"/>
                <a:ea typeface="Trebuchet MS" pitchFamily="34" charset="-122"/>
                <a:cs typeface="Trebuchet MS" pitchFamily="34" charset="-120"/>
              </a:rPr>
              <a:t>03</a:t>
            </a:r>
            <a:endParaRPr lang="en-US" sz="2000" dirty="0"/>
          </a:p>
        </p:txBody>
      </p:sp>
      <p:sp>
        <p:nvSpPr>
          <p:cNvPr id="17" name="Text 15"/>
          <p:cNvSpPr/>
          <p:nvPr/>
        </p:nvSpPr>
        <p:spPr>
          <a:xfrm>
            <a:off x="1024128" y="3886200"/>
            <a:ext cx="2743200" cy="45720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What makes fans actually engage?</a:t>
            </a:r>
            <a:endParaRPr lang="en-US" sz="1500" dirty="0"/>
          </a:p>
        </p:txBody>
      </p:sp>
      <p:sp>
        <p:nvSpPr>
          <p:cNvPr id="18" name="Text 16"/>
          <p:cNvSpPr/>
          <p:nvPr/>
        </p:nvSpPr>
        <p:spPr>
          <a:xfrm>
            <a:off x="1024128" y="4370832"/>
            <a:ext cx="2286000" cy="292608"/>
          </a:xfrm>
          <a:prstGeom prst="rect">
            <a:avLst/>
          </a:prstGeom>
          <a:noFill/>
          <a:ln/>
        </p:spPr>
        <p:txBody>
          <a:bodyPr wrap="square" lIns="0" tIns="0" rIns="0" bIns="0" rtlCol="0" anchor="ctr"/>
          <a:lstStyle/>
          <a:p>
            <a:pPr marL="0" indent="0">
              <a:buNone/>
            </a:pPr>
            <a:r>
              <a:rPr lang="en-US" sz="1200" dirty="0">
                <a:solidFill>
                  <a:srgbClr val="1ED760"/>
                </a:solidFill>
                <a:latin typeface="Calibri" pitchFamily="34" charset="0"/>
                <a:ea typeface="Calibri" pitchFamily="34" charset="-122"/>
                <a:cs typeface="Calibri" pitchFamily="34" charset="-120"/>
              </a:rPr>
              <a:t>Marketing</a:t>
            </a:r>
            <a:endParaRPr lang="en-US" sz="1200" dirty="0"/>
          </a:p>
        </p:txBody>
      </p:sp>
      <p:sp>
        <p:nvSpPr>
          <p:cNvPr id="19" name="Shape 17"/>
          <p:cNvSpPr/>
          <p:nvPr/>
        </p:nvSpPr>
        <p:spPr>
          <a:xfrm>
            <a:off x="4800600" y="1371600"/>
            <a:ext cx="4160520" cy="1005840"/>
          </a:xfrm>
          <a:prstGeom prst="rect">
            <a:avLst/>
          </a:prstGeom>
          <a:solidFill>
            <a:srgbClr val="282828"/>
          </a:solidFill>
          <a:ln w="12700">
            <a:solidFill>
              <a:srgbClr val="3E3E3E"/>
            </a:solidFill>
            <a:prstDash val="solid"/>
          </a:ln>
        </p:spPr>
        <p:txBody>
          <a:bodyPr/>
          <a:lstStyle/>
          <a:p>
            <a:endParaRPr lang="en-US"/>
          </a:p>
        </p:txBody>
      </p:sp>
      <p:sp>
        <p:nvSpPr>
          <p:cNvPr id="20" name="Shape 18"/>
          <p:cNvSpPr/>
          <p:nvPr/>
        </p:nvSpPr>
        <p:spPr>
          <a:xfrm>
            <a:off x="4800600" y="1371600"/>
            <a:ext cx="54864" cy="1005840"/>
          </a:xfrm>
          <a:prstGeom prst="rect">
            <a:avLst/>
          </a:prstGeom>
          <a:solidFill>
            <a:srgbClr val="1DB954"/>
          </a:solidFill>
          <a:ln w="12700">
            <a:solidFill>
              <a:srgbClr val="1DB954"/>
            </a:solidFill>
            <a:prstDash val="solid"/>
          </a:ln>
        </p:spPr>
        <p:txBody>
          <a:bodyPr/>
          <a:lstStyle/>
          <a:p>
            <a:endParaRPr lang="en-US"/>
          </a:p>
        </p:txBody>
      </p:sp>
      <p:sp>
        <p:nvSpPr>
          <p:cNvPr id="21" name="Text 19"/>
          <p:cNvSpPr/>
          <p:nvPr/>
        </p:nvSpPr>
        <p:spPr>
          <a:xfrm>
            <a:off x="4965192" y="1463040"/>
            <a:ext cx="457200" cy="457200"/>
          </a:xfrm>
          <a:prstGeom prst="rect">
            <a:avLst/>
          </a:prstGeom>
          <a:noFill/>
          <a:ln/>
        </p:spPr>
        <p:txBody>
          <a:bodyPr wrap="square" lIns="0" tIns="0" rIns="0" bIns="0" rtlCol="0" anchor="ctr"/>
          <a:lstStyle/>
          <a:p>
            <a:pPr marL="0" indent="0">
              <a:buNone/>
            </a:pPr>
            <a:r>
              <a:rPr lang="en-US" sz="2000" b="1" dirty="0">
                <a:solidFill>
                  <a:srgbClr val="1DB954"/>
                </a:solidFill>
                <a:latin typeface="Trebuchet MS" pitchFamily="34" charset="0"/>
                <a:ea typeface="Trebuchet MS" pitchFamily="34" charset="-122"/>
                <a:cs typeface="Trebuchet MS" pitchFamily="34" charset="-120"/>
              </a:rPr>
              <a:t>04</a:t>
            </a:r>
            <a:endParaRPr lang="en-US" sz="2000" dirty="0"/>
          </a:p>
        </p:txBody>
      </p:sp>
      <p:sp>
        <p:nvSpPr>
          <p:cNvPr id="22" name="Text 20"/>
          <p:cNvSpPr/>
          <p:nvPr/>
        </p:nvSpPr>
        <p:spPr>
          <a:xfrm>
            <a:off x="5458968" y="1508760"/>
            <a:ext cx="2743200" cy="45720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Which tracks are primed to break through?</a:t>
            </a:r>
            <a:endParaRPr lang="en-US" sz="1500" dirty="0"/>
          </a:p>
        </p:txBody>
      </p:sp>
      <p:sp>
        <p:nvSpPr>
          <p:cNvPr id="23" name="Text 21"/>
          <p:cNvSpPr/>
          <p:nvPr/>
        </p:nvSpPr>
        <p:spPr>
          <a:xfrm>
            <a:off x="5458968" y="1993392"/>
            <a:ext cx="2286000" cy="292608"/>
          </a:xfrm>
          <a:prstGeom prst="rect">
            <a:avLst/>
          </a:prstGeom>
          <a:noFill/>
          <a:ln/>
        </p:spPr>
        <p:txBody>
          <a:bodyPr wrap="square" lIns="0" tIns="0" rIns="0" bIns="0" rtlCol="0" anchor="ctr"/>
          <a:lstStyle/>
          <a:p>
            <a:pPr marL="0" indent="0">
              <a:buNone/>
            </a:pPr>
            <a:r>
              <a:rPr lang="en-US" sz="1200" dirty="0">
                <a:solidFill>
                  <a:srgbClr val="1ED760"/>
                </a:solidFill>
                <a:latin typeface="Calibri" pitchFamily="34" charset="0"/>
                <a:ea typeface="Calibri" pitchFamily="34" charset="-122"/>
                <a:cs typeface="Calibri" pitchFamily="34" charset="-120"/>
              </a:rPr>
              <a:t>Promotion</a:t>
            </a:r>
            <a:endParaRPr lang="en-US" sz="1200" dirty="0"/>
          </a:p>
        </p:txBody>
      </p:sp>
      <p:sp>
        <p:nvSpPr>
          <p:cNvPr id="24" name="Shape 22"/>
          <p:cNvSpPr/>
          <p:nvPr/>
        </p:nvSpPr>
        <p:spPr>
          <a:xfrm>
            <a:off x="4800600" y="2560320"/>
            <a:ext cx="4160520" cy="1005840"/>
          </a:xfrm>
          <a:prstGeom prst="rect">
            <a:avLst/>
          </a:prstGeom>
          <a:solidFill>
            <a:srgbClr val="282828"/>
          </a:solidFill>
          <a:ln w="12700">
            <a:solidFill>
              <a:srgbClr val="3E3E3E"/>
            </a:solidFill>
            <a:prstDash val="solid"/>
          </a:ln>
        </p:spPr>
        <p:txBody>
          <a:bodyPr/>
          <a:lstStyle/>
          <a:p>
            <a:endParaRPr lang="en-US"/>
          </a:p>
        </p:txBody>
      </p:sp>
      <p:sp>
        <p:nvSpPr>
          <p:cNvPr id="25" name="Shape 23"/>
          <p:cNvSpPr/>
          <p:nvPr/>
        </p:nvSpPr>
        <p:spPr>
          <a:xfrm>
            <a:off x="4800600" y="2560320"/>
            <a:ext cx="54864" cy="1005840"/>
          </a:xfrm>
          <a:prstGeom prst="rect">
            <a:avLst/>
          </a:prstGeom>
          <a:solidFill>
            <a:srgbClr val="1DB954"/>
          </a:solidFill>
          <a:ln w="12700">
            <a:solidFill>
              <a:srgbClr val="1DB954"/>
            </a:solidFill>
            <a:prstDash val="solid"/>
          </a:ln>
        </p:spPr>
        <p:txBody>
          <a:bodyPr/>
          <a:lstStyle/>
          <a:p>
            <a:endParaRPr lang="en-US"/>
          </a:p>
        </p:txBody>
      </p:sp>
      <p:sp>
        <p:nvSpPr>
          <p:cNvPr id="26" name="Text 24"/>
          <p:cNvSpPr/>
          <p:nvPr/>
        </p:nvSpPr>
        <p:spPr>
          <a:xfrm>
            <a:off x="4965192" y="2651760"/>
            <a:ext cx="457200" cy="457200"/>
          </a:xfrm>
          <a:prstGeom prst="rect">
            <a:avLst/>
          </a:prstGeom>
          <a:noFill/>
          <a:ln/>
        </p:spPr>
        <p:txBody>
          <a:bodyPr wrap="square" lIns="0" tIns="0" rIns="0" bIns="0" rtlCol="0" anchor="ctr"/>
          <a:lstStyle/>
          <a:p>
            <a:pPr marL="0" indent="0">
              <a:buNone/>
            </a:pPr>
            <a:r>
              <a:rPr lang="en-US" sz="2000" b="1" dirty="0">
                <a:solidFill>
                  <a:srgbClr val="1DB954"/>
                </a:solidFill>
                <a:latin typeface="Trebuchet MS" pitchFamily="34" charset="0"/>
                <a:ea typeface="Trebuchet MS" pitchFamily="34" charset="-122"/>
                <a:cs typeface="Trebuchet MS" pitchFamily="34" charset="-120"/>
              </a:rPr>
              <a:t>05</a:t>
            </a:r>
            <a:endParaRPr lang="en-US" sz="2000" dirty="0"/>
          </a:p>
        </p:txBody>
      </p:sp>
      <p:sp>
        <p:nvSpPr>
          <p:cNvPr id="27" name="Text 25"/>
          <p:cNvSpPr/>
          <p:nvPr/>
        </p:nvSpPr>
        <p:spPr>
          <a:xfrm>
            <a:off x="5458968" y="2697480"/>
            <a:ext cx="2743200" cy="45720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Where do streams concentrate?</a:t>
            </a:r>
            <a:endParaRPr lang="en-US" sz="1500" dirty="0"/>
          </a:p>
        </p:txBody>
      </p:sp>
      <p:sp>
        <p:nvSpPr>
          <p:cNvPr id="28" name="Text 26"/>
          <p:cNvSpPr/>
          <p:nvPr/>
        </p:nvSpPr>
        <p:spPr>
          <a:xfrm>
            <a:off x="5458968" y="3182112"/>
            <a:ext cx="2286000" cy="292608"/>
          </a:xfrm>
          <a:prstGeom prst="rect">
            <a:avLst/>
          </a:prstGeom>
          <a:noFill/>
          <a:ln/>
        </p:spPr>
        <p:txBody>
          <a:bodyPr wrap="square" lIns="0" tIns="0" rIns="0" bIns="0" rtlCol="0" anchor="ctr"/>
          <a:lstStyle/>
          <a:p>
            <a:pPr marL="0" indent="0">
              <a:buNone/>
            </a:pPr>
            <a:r>
              <a:rPr lang="en-US" sz="1200" dirty="0">
                <a:solidFill>
                  <a:srgbClr val="1ED760"/>
                </a:solidFill>
                <a:latin typeface="Calibri" pitchFamily="34" charset="0"/>
                <a:ea typeface="Calibri" pitchFamily="34" charset="-122"/>
                <a:cs typeface="Calibri" pitchFamily="34" charset="-120"/>
              </a:rPr>
              <a:t>Strategy</a:t>
            </a:r>
            <a:endParaRPr lang="en-US" sz="1200" dirty="0"/>
          </a:p>
        </p:txBody>
      </p:sp>
      <p:sp>
        <p:nvSpPr>
          <p:cNvPr id="29" name="Shape 27"/>
          <p:cNvSpPr/>
          <p:nvPr/>
        </p:nvSpPr>
        <p:spPr>
          <a:xfrm>
            <a:off x="4800600" y="3749040"/>
            <a:ext cx="4160520" cy="1005840"/>
          </a:xfrm>
          <a:prstGeom prst="rect">
            <a:avLst/>
          </a:prstGeom>
          <a:solidFill>
            <a:srgbClr val="282828"/>
          </a:solidFill>
          <a:ln w="12700">
            <a:solidFill>
              <a:srgbClr val="3E3E3E"/>
            </a:solidFill>
            <a:prstDash val="solid"/>
          </a:ln>
        </p:spPr>
        <p:txBody>
          <a:bodyPr/>
          <a:lstStyle/>
          <a:p>
            <a:endParaRPr lang="en-US"/>
          </a:p>
        </p:txBody>
      </p:sp>
      <p:sp>
        <p:nvSpPr>
          <p:cNvPr id="30" name="Shape 28"/>
          <p:cNvSpPr/>
          <p:nvPr/>
        </p:nvSpPr>
        <p:spPr>
          <a:xfrm>
            <a:off x="4800600" y="3749040"/>
            <a:ext cx="54864" cy="1005840"/>
          </a:xfrm>
          <a:prstGeom prst="rect">
            <a:avLst/>
          </a:prstGeom>
          <a:solidFill>
            <a:srgbClr val="1DB954"/>
          </a:solidFill>
          <a:ln w="12700">
            <a:solidFill>
              <a:srgbClr val="1DB954"/>
            </a:solidFill>
            <a:prstDash val="solid"/>
          </a:ln>
        </p:spPr>
        <p:txBody>
          <a:bodyPr/>
          <a:lstStyle/>
          <a:p>
            <a:endParaRPr lang="en-US"/>
          </a:p>
        </p:txBody>
      </p:sp>
      <p:sp>
        <p:nvSpPr>
          <p:cNvPr id="31" name="Text 29"/>
          <p:cNvSpPr/>
          <p:nvPr/>
        </p:nvSpPr>
        <p:spPr>
          <a:xfrm>
            <a:off x="4965192" y="3840480"/>
            <a:ext cx="457200" cy="457200"/>
          </a:xfrm>
          <a:prstGeom prst="rect">
            <a:avLst/>
          </a:prstGeom>
          <a:noFill/>
          <a:ln/>
        </p:spPr>
        <p:txBody>
          <a:bodyPr wrap="square" lIns="0" tIns="0" rIns="0" bIns="0" rtlCol="0" anchor="ctr"/>
          <a:lstStyle/>
          <a:p>
            <a:pPr marL="0" indent="0">
              <a:buNone/>
            </a:pPr>
            <a:r>
              <a:rPr lang="en-US" sz="2000" b="1" dirty="0">
                <a:solidFill>
                  <a:srgbClr val="1DB954"/>
                </a:solidFill>
                <a:latin typeface="Trebuchet MS" pitchFamily="34" charset="0"/>
                <a:ea typeface="Trebuchet MS" pitchFamily="34" charset="-122"/>
                <a:cs typeface="Trebuchet MS" pitchFamily="34" charset="-120"/>
              </a:rPr>
              <a:t>06</a:t>
            </a:r>
            <a:endParaRPr lang="en-US" sz="2000" dirty="0"/>
          </a:p>
        </p:txBody>
      </p:sp>
      <p:sp>
        <p:nvSpPr>
          <p:cNvPr id="32" name="Text 30"/>
          <p:cNvSpPr/>
          <p:nvPr/>
        </p:nvSpPr>
        <p:spPr>
          <a:xfrm>
            <a:off x="5458968" y="3886200"/>
            <a:ext cx="2743200" cy="45720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What do fans want to hear next?</a:t>
            </a:r>
            <a:endParaRPr lang="en-US" sz="1500" dirty="0"/>
          </a:p>
        </p:txBody>
      </p:sp>
      <p:sp>
        <p:nvSpPr>
          <p:cNvPr id="33" name="Text 31"/>
          <p:cNvSpPr/>
          <p:nvPr/>
        </p:nvSpPr>
        <p:spPr>
          <a:xfrm>
            <a:off x="5458968" y="4370832"/>
            <a:ext cx="2286000" cy="292608"/>
          </a:xfrm>
          <a:prstGeom prst="rect">
            <a:avLst/>
          </a:prstGeom>
          <a:noFill/>
          <a:ln/>
        </p:spPr>
        <p:txBody>
          <a:bodyPr wrap="square" lIns="0" tIns="0" rIns="0" bIns="0" rtlCol="0" anchor="ctr"/>
          <a:lstStyle/>
          <a:p>
            <a:pPr marL="0" indent="0">
              <a:buNone/>
            </a:pPr>
            <a:r>
              <a:rPr lang="en-US" sz="1200" dirty="0">
                <a:solidFill>
                  <a:srgbClr val="1ED760"/>
                </a:solidFill>
                <a:latin typeface="Calibri" pitchFamily="34" charset="0"/>
                <a:ea typeface="Calibri" pitchFamily="34" charset="-122"/>
                <a:cs typeface="Calibri" pitchFamily="34" charset="-120"/>
              </a:rPr>
              <a:t>Playlists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1DB954"/>
          </a:solidFill>
          <a:ln w="12700">
            <a:solidFill>
              <a:srgbClr val="1DB954"/>
            </a:solidFill>
            <a:prstDash val="solid"/>
          </a:ln>
        </p:spPr>
        <p:txBody>
          <a:bodyPr/>
          <a:lstStyle/>
          <a:p>
            <a:endParaRPr lang="en-US"/>
          </a:p>
        </p:txBody>
      </p:sp>
      <p:sp>
        <p:nvSpPr>
          <p:cNvPr id="3" name="Text 1"/>
          <p:cNvSpPr/>
          <p:nvPr/>
        </p:nvSpPr>
        <p:spPr>
          <a:xfrm>
            <a:off x="137160" y="1371600"/>
            <a:ext cx="2651760" cy="1005840"/>
          </a:xfrm>
          <a:prstGeom prst="rect">
            <a:avLst/>
          </a:prstGeom>
          <a:noFill/>
          <a:ln/>
        </p:spPr>
        <p:txBody>
          <a:bodyPr wrap="square" lIns="0" tIns="0" rIns="0" bIns="0" rtlCol="0" anchor="ctr"/>
          <a:lstStyle/>
          <a:p>
            <a:pPr marL="0" indent="0" algn="ctr">
              <a:buNone/>
            </a:pPr>
            <a:r>
              <a:rPr lang="en-US" sz="3000" b="1" dirty="0">
                <a:solidFill>
                  <a:srgbClr val="121212"/>
                </a:solidFill>
                <a:latin typeface="Trebuchet MS" pitchFamily="34" charset="0"/>
                <a:ea typeface="Trebuchet MS" pitchFamily="34" charset="-122"/>
                <a:cs typeface="Trebuchet MS" pitchFamily="34" charset="-120"/>
              </a:rPr>
              <a:t>ARTIST</a:t>
            </a:r>
            <a:endParaRPr lang="en-US" sz="3000" dirty="0"/>
          </a:p>
          <a:p>
            <a:pPr marL="0" indent="0" algn="ctr">
              <a:buNone/>
            </a:pPr>
            <a:r>
              <a:rPr lang="en-US" sz="3000" b="1" dirty="0">
                <a:solidFill>
                  <a:srgbClr val="121212"/>
                </a:solidFill>
                <a:latin typeface="Trebuchet MS" pitchFamily="34" charset="0"/>
                <a:ea typeface="Trebuchet MS" pitchFamily="34" charset="-122"/>
                <a:cs typeface="Trebuchet MS" pitchFamily="34" charset="-120"/>
              </a:rPr>
              <a:t>SPOTLIGHT</a:t>
            </a:r>
            <a:endParaRPr lang="en-US" sz="3000" dirty="0"/>
          </a:p>
        </p:txBody>
      </p:sp>
      <p:sp>
        <p:nvSpPr>
          <p:cNvPr id="4" name="Text 2"/>
          <p:cNvSpPr/>
          <p:nvPr/>
        </p:nvSpPr>
        <p:spPr>
          <a:xfrm>
            <a:off x="137160" y="2560320"/>
            <a:ext cx="2651760" cy="731520"/>
          </a:xfrm>
          <a:prstGeom prst="rect">
            <a:avLst/>
          </a:prstGeom>
          <a:noFill/>
          <a:ln/>
        </p:spPr>
        <p:txBody>
          <a:bodyPr wrap="square" lIns="0" tIns="0" rIns="0" bIns="0" rtlCol="0" anchor="ctr"/>
          <a:lstStyle/>
          <a:p>
            <a:pPr marL="0" indent="0" algn="ctr">
              <a:buNone/>
            </a:pPr>
            <a:r>
              <a:rPr lang="en-US" sz="1800" dirty="0">
                <a:solidFill>
                  <a:srgbClr val="121212"/>
                </a:solidFill>
                <a:latin typeface="Trebuchet MS" pitchFamily="34" charset="0"/>
                <a:ea typeface="Trebuchet MS" pitchFamily="34" charset="-122"/>
                <a:cs typeface="Trebuchet MS" pitchFamily="34" charset="-120"/>
              </a:rPr>
              <a:t>Know your</a:t>
            </a:r>
            <a:endParaRPr lang="en-US" sz="1800" dirty="0"/>
          </a:p>
          <a:p>
            <a:pPr marL="0" indent="0" algn="ctr">
              <a:buNone/>
            </a:pPr>
            <a:r>
              <a:rPr lang="en-US" sz="1800" dirty="0">
                <a:solidFill>
                  <a:srgbClr val="121212"/>
                </a:solidFill>
                <a:latin typeface="Trebuchet MS" pitchFamily="34" charset="0"/>
                <a:ea typeface="Trebuchet MS" pitchFamily="34" charset="-122"/>
                <a:cs typeface="Trebuchet MS" pitchFamily="34" charset="-120"/>
              </a:rPr>
              <a:t>catalogue</a:t>
            </a:r>
            <a:endParaRPr lang="en-US" sz="1800" dirty="0"/>
          </a:p>
        </p:txBody>
      </p:sp>
      <p:sp>
        <p:nvSpPr>
          <p:cNvPr id="5" name="Shape 3"/>
          <p:cNvSpPr/>
          <p:nvPr/>
        </p:nvSpPr>
        <p:spPr>
          <a:xfrm>
            <a:off x="457200" y="3749040"/>
            <a:ext cx="2011680" cy="2011680"/>
          </a:xfrm>
          <a:prstGeom prst="ellipse">
            <a:avLst/>
          </a:prstGeom>
          <a:solidFill>
            <a:srgbClr val="158A3E">
              <a:alpha val="50000"/>
            </a:srgbClr>
          </a:solidFill>
          <a:ln w="12700">
            <a:solidFill>
              <a:srgbClr val="158A3E">
                <a:alpha val="50000"/>
              </a:srgbClr>
            </a:solidFill>
            <a:prstDash val="solid"/>
          </a:ln>
        </p:spPr>
        <p:txBody>
          <a:bodyPr/>
          <a:lstStyle/>
          <a:p>
            <a:endParaRPr lang="en-US"/>
          </a:p>
        </p:txBody>
      </p:sp>
      <p:sp>
        <p:nvSpPr>
          <p:cNvPr id="6" name="Text 4"/>
          <p:cNvSpPr/>
          <p:nvPr/>
        </p:nvSpPr>
        <p:spPr>
          <a:xfrm>
            <a:off x="457200" y="3840480"/>
            <a:ext cx="2011680" cy="914400"/>
          </a:xfrm>
          <a:prstGeom prst="rect">
            <a:avLst/>
          </a:prstGeom>
          <a:noFill/>
          <a:ln/>
        </p:spPr>
        <p:txBody>
          <a:bodyPr wrap="square" lIns="0" tIns="0" rIns="0" bIns="0" rtlCol="0" anchor="ctr"/>
          <a:lstStyle/>
          <a:p>
            <a:pPr marL="0" indent="0" algn="ctr">
              <a:buNone/>
            </a:pPr>
            <a:r>
              <a:rPr lang="en-US" sz="4800" dirty="0">
                <a:solidFill>
                  <a:srgbClr val="121212"/>
                </a:solidFill>
                <a:latin typeface="Trebuchet MS" pitchFamily="34" charset="0"/>
                <a:ea typeface="Trebuchet MS" pitchFamily="34" charset="-122"/>
                <a:cs typeface="Trebuchet MS" pitchFamily="34" charset="-120"/>
              </a:rPr>
              <a:t>♪</a:t>
            </a:r>
            <a:endParaRPr lang="en-US" sz="4800" dirty="0"/>
          </a:p>
        </p:txBody>
      </p:sp>
      <p:sp>
        <p:nvSpPr>
          <p:cNvPr id="7" name="Shape 5"/>
          <p:cNvSpPr/>
          <p:nvPr/>
        </p:nvSpPr>
        <p:spPr>
          <a:xfrm>
            <a:off x="3154680" y="274320"/>
            <a:ext cx="5669280" cy="2148840"/>
          </a:xfrm>
          <a:prstGeom prst="rect">
            <a:avLst/>
          </a:prstGeom>
          <a:solidFill>
            <a:srgbClr val="282828"/>
          </a:solidFill>
          <a:ln w="12700">
            <a:solidFill>
              <a:srgbClr val="3E3E3E"/>
            </a:solidFill>
            <a:prstDash val="solid"/>
          </a:ln>
        </p:spPr>
        <p:txBody>
          <a:bodyPr/>
          <a:lstStyle/>
          <a:p>
            <a:endParaRPr lang="en-US"/>
          </a:p>
        </p:txBody>
      </p:sp>
      <p:sp>
        <p:nvSpPr>
          <p:cNvPr id="8" name="Shape 6"/>
          <p:cNvSpPr/>
          <p:nvPr/>
        </p:nvSpPr>
        <p:spPr>
          <a:xfrm>
            <a:off x="3154680" y="274320"/>
            <a:ext cx="5669280" cy="64008"/>
          </a:xfrm>
          <a:prstGeom prst="rect">
            <a:avLst/>
          </a:prstGeom>
          <a:solidFill>
            <a:srgbClr val="1DB954"/>
          </a:solidFill>
          <a:ln w="12700">
            <a:solidFill>
              <a:srgbClr val="1DB954"/>
            </a:solidFill>
            <a:prstDash val="solid"/>
          </a:ln>
        </p:spPr>
        <p:txBody>
          <a:bodyPr/>
          <a:lstStyle/>
          <a:p>
            <a:endParaRPr lang="en-US"/>
          </a:p>
        </p:txBody>
      </p:sp>
      <p:sp>
        <p:nvSpPr>
          <p:cNvPr id="9" name="Text 7"/>
          <p:cNvSpPr/>
          <p:nvPr/>
        </p:nvSpPr>
        <p:spPr>
          <a:xfrm>
            <a:off x="3337560" y="438912"/>
            <a:ext cx="53035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Every artist has one track that defines them</a:t>
            </a:r>
            <a:endParaRPr lang="en-US" sz="1900" dirty="0"/>
          </a:p>
        </p:txBody>
      </p:sp>
      <p:sp>
        <p:nvSpPr>
          <p:cNvPr id="10" name="Text 8"/>
          <p:cNvSpPr/>
          <p:nvPr/>
        </p:nvSpPr>
        <p:spPr>
          <a:xfrm>
            <a:off x="3337560" y="987552"/>
            <a:ext cx="5303520" cy="1234440"/>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We identified the single most-viewed track for every artist in the catalogue. This is the track fans share, discover first, and return to most. Knowing it lets us build smarter Artist Spotlight pages, featured playlist slots, and homepage recommendations automatically.</a:t>
            </a:r>
            <a:endParaRPr lang="en-US" sz="1300" dirty="0"/>
          </a:p>
        </p:txBody>
      </p:sp>
      <p:sp>
        <p:nvSpPr>
          <p:cNvPr id="11" name="Shape 9"/>
          <p:cNvSpPr/>
          <p:nvPr/>
        </p:nvSpPr>
        <p:spPr>
          <a:xfrm>
            <a:off x="3154680" y="2651760"/>
            <a:ext cx="5669280" cy="2194560"/>
          </a:xfrm>
          <a:prstGeom prst="rect">
            <a:avLst/>
          </a:prstGeom>
          <a:solidFill>
            <a:srgbClr val="282828"/>
          </a:solidFill>
          <a:ln w="12700">
            <a:solidFill>
              <a:srgbClr val="3E3E3E"/>
            </a:solidFill>
            <a:prstDash val="solid"/>
          </a:ln>
        </p:spPr>
        <p:txBody>
          <a:bodyPr/>
          <a:lstStyle/>
          <a:p>
            <a:endParaRPr lang="en-US"/>
          </a:p>
        </p:txBody>
      </p:sp>
      <p:sp>
        <p:nvSpPr>
          <p:cNvPr id="12" name="Shape 10"/>
          <p:cNvSpPr/>
          <p:nvPr/>
        </p:nvSpPr>
        <p:spPr>
          <a:xfrm>
            <a:off x="3154680" y="2651760"/>
            <a:ext cx="5669280" cy="64008"/>
          </a:xfrm>
          <a:prstGeom prst="rect">
            <a:avLst/>
          </a:prstGeom>
          <a:solidFill>
            <a:srgbClr val="1ED760"/>
          </a:solidFill>
          <a:ln w="12700">
            <a:solidFill>
              <a:srgbClr val="1ED760"/>
            </a:solidFill>
            <a:prstDash val="solid"/>
          </a:ln>
        </p:spPr>
        <p:txBody>
          <a:bodyPr/>
          <a:lstStyle/>
          <a:p>
            <a:endParaRPr lang="en-US"/>
          </a:p>
        </p:txBody>
      </p:sp>
      <p:sp>
        <p:nvSpPr>
          <p:cNvPr id="13" name="Text 11"/>
          <p:cNvSpPr/>
          <p:nvPr/>
        </p:nvSpPr>
        <p:spPr>
          <a:xfrm>
            <a:off x="3337560" y="2816352"/>
            <a:ext cx="53035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Some albums are sleeping giants</a:t>
            </a:r>
            <a:endParaRPr lang="en-US" sz="1900" dirty="0"/>
          </a:p>
        </p:txBody>
      </p:sp>
      <p:sp>
        <p:nvSpPr>
          <p:cNvPr id="14" name="Text 12"/>
          <p:cNvSpPr/>
          <p:nvPr/>
        </p:nvSpPr>
        <p:spPr>
          <a:xfrm>
            <a:off x="3337560" y="3383280"/>
            <a:ext cx="5303520" cy="1298448"/>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By ranking each artist's albums by total streams, we can see which records are quietly pulling in huge numbers with minimal marketing. These are the re-release and anniversary campaign opportunities that labels routinely miss. One targeted push on an underexposed album can move significant revenue.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What Fans Actually Love</a:t>
            </a:r>
            <a:endParaRPr lang="en-US" sz="3600" dirty="0"/>
          </a:p>
        </p:txBody>
      </p:sp>
      <p:sp>
        <p:nvSpPr>
          <p:cNvPr id="3" name="Text 1"/>
          <p:cNvSpPr/>
          <p:nvPr/>
        </p:nvSpPr>
        <p:spPr>
          <a:xfrm>
            <a:off x="457200" y="850392"/>
            <a:ext cx="8229600" cy="347472"/>
          </a:xfrm>
          <a:prstGeom prst="rect">
            <a:avLst/>
          </a:prstGeom>
          <a:noFill/>
          <a:ln/>
        </p:spPr>
        <p:txBody>
          <a:bodyPr wrap="square" lIns="0" tIns="0" rIns="0" bIns="0" rtlCol="0" anchor="ctr"/>
          <a:lstStyle/>
          <a:p>
            <a:pPr marL="0" indent="0">
              <a:buNone/>
            </a:pPr>
            <a:r>
              <a:rPr lang="en-US" sz="1400" dirty="0">
                <a:solidFill>
                  <a:srgbClr val="1DB954"/>
                </a:solidFill>
                <a:latin typeface="Calibri" pitchFamily="34" charset="0"/>
                <a:ea typeface="Calibri" pitchFamily="34" charset="-122"/>
                <a:cs typeface="Calibri" pitchFamily="34" charset="-120"/>
              </a:rPr>
              <a:t>Views tell you what people click. Likes and comments tell you what they feel.</a:t>
            </a:r>
            <a:endParaRPr lang="en-US" sz="1400" dirty="0"/>
          </a:p>
        </p:txBody>
      </p:sp>
      <p:sp>
        <p:nvSpPr>
          <p:cNvPr id="4" name="Shape 2"/>
          <p:cNvSpPr/>
          <p:nvPr/>
        </p:nvSpPr>
        <p:spPr>
          <a:xfrm>
            <a:off x="365760" y="1371600"/>
            <a:ext cx="2743200" cy="3383280"/>
          </a:xfrm>
          <a:prstGeom prst="rect">
            <a:avLst/>
          </a:prstGeom>
          <a:solidFill>
            <a:srgbClr val="1DB954"/>
          </a:solidFill>
          <a:ln w="12700">
            <a:solidFill>
              <a:srgbClr val="1DB954"/>
            </a:solidFill>
            <a:prstDash val="solid"/>
          </a:ln>
        </p:spPr>
        <p:txBody>
          <a:bodyPr/>
          <a:lstStyle/>
          <a:p>
            <a:endParaRPr lang="en-US"/>
          </a:p>
        </p:txBody>
      </p:sp>
      <p:sp>
        <p:nvSpPr>
          <p:cNvPr id="5" name="Text 3"/>
          <p:cNvSpPr/>
          <p:nvPr/>
        </p:nvSpPr>
        <p:spPr>
          <a:xfrm>
            <a:off x="365760" y="1737360"/>
            <a:ext cx="2743200" cy="1463040"/>
          </a:xfrm>
          <a:prstGeom prst="rect">
            <a:avLst/>
          </a:prstGeom>
          <a:noFill/>
          <a:ln/>
        </p:spPr>
        <p:txBody>
          <a:bodyPr wrap="square" lIns="0" tIns="0" rIns="0" bIns="0" rtlCol="0" anchor="ctr"/>
          <a:lstStyle/>
          <a:p>
            <a:pPr marL="0" indent="0" algn="ctr">
              <a:buNone/>
            </a:pPr>
            <a:r>
              <a:rPr lang="en-US" sz="2800" b="1" dirty="0">
                <a:solidFill>
                  <a:srgbClr val="121212"/>
                </a:solidFill>
                <a:latin typeface="Trebuchet MS" pitchFamily="34" charset="0"/>
                <a:ea typeface="Trebuchet MS" pitchFamily="34" charset="-122"/>
                <a:cs typeface="Trebuchet MS" pitchFamily="34" charset="-120"/>
              </a:rPr>
              <a:t>LIKES</a:t>
            </a:r>
            <a:endParaRPr lang="en-US" sz="2800" dirty="0"/>
          </a:p>
          <a:p>
            <a:pPr marL="0" indent="0" algn="ctr">
              <a:buNone/>
            </a:pPr>
            <a:r>
              <a:rPr lang="en-US" sz="2800" b="1" dirty="0">
                <a:solidFill>
                  <a:srgbClr val="121212"/>
                </a:solidFill>
                <a:latin typeface="Trebuchet MS" pitchFamily="34" charset="0"/>
                <a:ea typeface="Trebuchet MS" pitchFamily="34" charset="-122"/>
                <a:cs typeface="Trebuchet MS" pitchFamily="34" charset="-120"/>
              </a:rPr>
              <a:t>+</a:t>
            </a:r>
            <a:endParaRPr lang="en-US" sz="2800" dirty="0"/>
          </a:p>
          <a:p>
            <a:pPr marL="0" indent="0" algn="ctr">
              <a:buNone/>
            </a:pPr>
            <a:r>
              <a:rPr lang="en-US" sz="2800" b="1" dirty="0">
                <a:solidFill>
                  <a:srgbClr val="121212"/>
                </a:solidFill>
                <a:latin typeface="Trebuchet MS" pitchFamily="34" charset="0"/>
                <a:ea typeface="Trebuchet MS" pitchFamily="34" charset="-122"/>
                <a:cs typeface="Trebuchet MS" pitchFamily="34" charset="-120"/>
              </a:rPr>
              <a:t>COMMENTS</a:t>
            </a:r>
            <a:endParaRPr lang="en-US" sz="2800" dirty="0"/>
          </a:p>
        </p:txBody>
      </p:sp>
      <p:sp>
        <p:nvSpPr>
          <p:cNvPr id="6" name="Text 4"/>
          <p:cNvSpPr/>
          <p:nvPr/>
        </p:nvSpPr>
        <p:spPr>
          <a:xfrm>
            <a:off x="365760" y="3200400"/>
            <a:ext cx="2743200" cy="1097280"/>
          </a:xfrm>
          <a:prstGeom prst="rect">
            <a:avLst/>
          </a:prstGeom>
          <a:noFill/>
          <a:ln/>
        </p:spPr>
        <p:txBody>
          <a:bodyPr wrap="square" lIns="0" tIns="0" rIns="0" bIns="0" rtlCol="0" anchor="ctr"/>
          <a:lstStyle/>
          <a:p>
            <a:pPr marL="0" indent="0" algn="ctr">
              <a:buNone/>
            </a:pPr>
            <a:r>
              <a:rPr lang="en-US" sz="1600" dirty="0">
                <a:solidFill>
                  <a:srgbClr val="121212"/>
                </a:solidFill>
                <a:latin typeface="Calibri" pitchFamily="34" charset="0"/>
                <a:ea typeface="Calibri" pitchFamily="34" charset="-122"/>
                <a:cs typeface="Calibri" pitchFamily="34" charset="-120"/>
              </a:rPr>
              <a:t>The real</a:t>
            </a:r>
            <a:endParaRPr lang="en-US" sz="1600" dirty="0"/>
          </a:p>
          <a:p>
            <a:pPr marL="0" indent="0" algn="ctr">
              <a:buNone/>
            </a:pPr>
            <a:r>
              <a:rPr lang="en-US" sz="1600" dirty="0">
                <a:solidFill>
                  <a:srgbClr val="121212"/>
                </a:solidFill>
                <a:latin typeface="Calibri" pitchFamily="34" charset="0"/>
                <a:ea typeface="Calibri" pitchFamily="34" charset="-122"/>
                <a:cs typeface="Calibri" pitchFamily="34" charset="-120"/>
              </a:rPr>
              <a:t>engagement</a:t>
            </a:r>
            <a:endParaRPr lang="en-US" sz="1600" dirty="0"/>
          </a:p>
          <a:p>
            <a:pPr marL="0" indent="0" algn="ctr">
              <a:buNone/>
            </a:pPr>
            <a:r>
              <a:rPr lang="en-US" sz="1600" dirty="0">
                <a:solidFill>
                  <a:srgbClr val="121212"/>
                </a:solidFill>
                <a:latin typeface="Calibri" pitchFamily="34" charset="0"/>
                <a:ea typeface="Calibri" pitchFamily="34" charset="-122"/>
                <a:cs typeface="Calibri" pitchFamily="34" charset="-120"/>
              </a:rPr>
              <a:t>score</a:t>
            </a:r>
            <a:endParaRPr lang="en-US" sz="1600" dirty="0"/>
          </a:p>
        </p:txBody>
      </p:sp>
      <p:sp>
        <p:nvSpPr>
          <p:cNvPr id="7" name="Shape 5"/>
          <p:cNvSpPr/>
          <p:nvPr/>
        </p:nvSpPr>
        <p:spPr>
          <a:xfrm>
            <a:off x="3337560" y="1371600"/>
            <a:ext cx="5440680" cy="1554480"/>
          </a:xfrm>
          <a:prstGeom prst="rect">
            <a:avLst/>
          </a:prstGeom>
          <a:solidFill>
            <a:srgbClr val="282828"/>
          </a:solidFill>
          <a:ln w="12700">
            <a:solidFill>
              <a:srgbClr val="3E3E3E"/>
            </a:solidFill>
            <a:prstDash val="solid"/>
          </a:ln>
        </p:spPr>
        <p:txBody>
          <a:bodyPr/>
          <a:lstStyle/>
          <a:p>
            <a:endParaRPr lang="en-US"/>
          </a:p>
        </p:txBody>
      </p:sp>
      <p:sp>
        <p:nvSpPr>
          <p:cNvPr id="8" name="Shape 6"/>
          <p:cNvSpPr/>
          <p:nvPr/>
        </p:nvSpPr>
        <p:spPr>
          <a:xfrm>
            <a:off x="3337560" y="1371600"/>
            <a:ext cx="64008" cy="1554480"/>
          </a:xfrm>
          <a:prstGeom prst="rect">
            <a:avLst/>
          </a:prstGeom>
          <a:solidFill>
            <a:srgbClr val="1DB954"/>
          </a:solidFill>
          <a:ln w="12700">
            <a:solidFill>
              <a:srgbClr val="1DB954"/>
            </a:solidFill>
            <a:prstDash val="solid"/>
          </a:ln>
        </p:spPr>
        <p:txBody>
          <a:bodyPr/>
          <a:lstStyle/>
          <a:p>
            <a:endParaRPr lang="en-US"/>
          </a:p>
        </p:txBody>
      </p:sp>
      <p:sp>
        <p:nvSpPr>
          <p:cNvPr id="9" name="Text 7"/>
          <p:cNvSpPr/>
          <p:nvPr/>
        </p:nvSpPr>
        <p:spPr>
          <a:xfrm>
            <a:off x="3520440" y="1481328"/>
            <a:ext cx="5074920" cy="411480"/>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The most-engaged track per album</a:t>
            </a:r>
            <a:endParaRPr lang="en-US" sz="1700" dirty="0"/>
          </a:p>
        </p:txBody>
      </p:sp>
      <p:sp>
        <p:nvSpPr>
          <p:cNvPr id="10" name="Text 8"/>
          <p:cNvSpPr/>
          <p:nvPr/>
        </p:nvSpPr>
        <p:spPr>
          <a:xfrm>
            <a:off x="3520440" y="1920240"/>
            <a:ext cx="5074920" cy="868680"/>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For every album we found the track fans respond to most emotionally. These are the tracks to anchor social campaigns, lyric videos, and live setlists around. Not necessarily the biggest streaming numbers, but the ones fans talk about.</a:t>
            </a:r>
            <a:endParaRPr lang="en-US" sz="1300" dirty="0"/>
          </a:p>
        </p:txBody>
      </p:sp>
      <p:sp>
        <p:nvSpPr>
          <p:cNvPr id="11" name="Shape 9"/>
          <p:cNvSpPr/>
          <p:nvPr/>
        </p:nvSpPr>
        <p:spPr>
          <a:xfrm>
            <a:off x="3337560" y="3154680"/>
            <a:ext cx="5440680" cy="1600200"/>
          </a:xfrm>
          <a:prstGeom prst="rect">
            <a:avLst/>
          </a:prstGeom>
          <a:solidFill>
            <a:srgbClr val="282828"/>
          </a:solidFill>
          <a:ln w="12700">
            <a:solidFill>
              <a:srgbClr val="3E3E3E"/>
            </a:solidFill>
            <a:prstDash val="solid"/>
          </a:ln>
        </p:spPr>
        <p:txBody>
          <a:bodyPr/>
          <a:lstStyle/>
          <a:p>
            <a:endParaRPr lang="en-US"/>
          </a:p>
        </p:txBody>
      </p:sp>
      <p:sp>
        <p:nvSpPr>
          <p:cNvPr id="12" name="Shape 10"/>
          <p:cNvSpPr/>
          <p:nvPr/>
        </p:nvSpPr>
        <p:spPr>
          <a:xfrm>
            <a:off x="3337560" y="3154680"/>
            <a:ext cx="64008" cy="1600200"/>
          </a:xfrm>
          <a:prstGeom prst="rect">
            <a:avLst/>
          </a:prstGeom>
          <a:solidFill>
            <a:srgbClr val="1ED760"/>
          </a:solidFill>
          <a:ln w="12700">
            <a:solidFill>
              <a:srgbClr val="1ED760"/>
            </a:solidFill>
            <a:prstDash val="solid"/>
          </a:ln>
        </p:spPr>
        <p:txBody>
          <a:bodyPr/>
          <a:lstStyle/>
          <a:p>
            <a:endParaRPr lang="en-US"/>
          </a:p>
        </p:txBody>
      </p:sp>
      <p:sp>
        <p:nvSpPr>
          <p:cNvPr id="13" name="Text 11"/>
          <p:cNvSpPr/>
          <p:nvPr/>
        </p:nvSpPr>
        <p:spPr>
          <a:xfrm>
            <a:off x="3520440" y="3264408"/>
            <a:ext cx="5074920" cy="411480"/>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Why this matters more than view counts</a:t>
            </a:r>
            <a:endParaRPr lang="en-US" sz="1700" dirty="0"/>
          </a:p>
        </p:txBody>
      </p:sp>
      <p:sp>
        <p:nvSpPr>
          <p:cNvPr id="14" name="Text 12"/>
          <p:cNvSpPr/>
          <p:nvPr/>
        </p:nvSpPr>
        <p:spPr>
          <a:xfrm>
            <a:off x="3520440" y="3712464"/>
            <a:ext cx="5074920" cy="960120"/>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A track with 10M views and 50K comments has more fan energy than one with 40M views and 5K comments. Engagement signals intent. These fans will buy tickets, merchandise, and follow-up releases. Targeting them first multiplies the value of every campaign dollar spent.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Promotional Opportunities</a:t>
            </a:r>
            <a:endParaRPr lang="en-US" sz="3600" dirty="0"/>
          </a:p>
        </p:txBody>
      </p:sp>
      <p:sp>
        <p:nvSpPr>
          <p:cNvPr id="3" name="Text 1"/>
          <p:cNvSpPr/>
          <p:nvPr/>
        </p:nvSpPr>
        <p:spPr>
          <a:xfrm>
            <a:off x="457200" y="850392"/>
            <a:ext cx="8229600" cy="347472"/>
          </a:xfrm>
          <a:prstGeom prst="rect">
            <a:avLst/>
          </a:prstGeom>
          <a:noFill/>
          <a:ln/>
        </p:spPr>
        <p:txBody>
          <a:bodyPr wrap="square" lIns="0" tIns="0" rIns="0" bIns="0" rtlCol="0" anchor="ctr"/>
          <a:lstStyle/>
          <a:p>
            <a:pPr marL="0" indent="0">
              <a:buNone/>
            </a:pPr>
            <a:r>
              <a:rPr lang="en-US" sz="1400" dirty="0">
                <a:solidFill>
                  <a:srgbClr val="1DB954"/>
                </a:solidFill>
                <a:latin typeface="Calibri" pitchFamily="34" charset="0"/>
                <a:ea typeface="Calibri" pitchFamily="34" charset="-122"/>
                <a:cs typeface="Calibri" pitchFamily="34" charset="-120"/>
              </a:rPr>
              <a:t>The data shows us exactly where to spend promotional budget for maximum return</a:t>
            </a:r>
            <a:endParaRPr lang="en-US" sz="1400" dirty="0"/>
          </a:p>
        </p:txBody>
      </p:sp>
      <p:sp>
        <p:nvSpPr>
          <p:cNvPr id="4" name="Shape 2"/>
          <p:cNvSpPr/>
          <p:nvPr/>
        </p:nvSpPr>
        <p:spPr>
          <a:xfrm>
            <a:off x="301752" y="1325880"/>
            <a:ext cx="2743200" cy="3520440"/>
          </a:xfrm>
          <a:prstGeom prst="rect">
            <a:avLst/>
          </a:prstGeom>
          <a:solidFill>
            <a:srgbClr val="282828"/>
          </a:solidFill>
          <a:ln w="12700">
            <a:solidFill>
              <a:srgbClr val="3E3E3E"/>
            </a:solidFill>
            <a:prstDash val="solid"/>
          </a:ln>
        </p:spPr>
        <p:txBody>
          <a:bodyPr/>
          <a:lstStyle/>
          <a:p>
            <a:endParaRPr lang="en-US"/>
          </a:p>
        </p:txBody>
      </p:sp>
      <p:sp>
        <p:nvSpPr>
          <p:cNvPr id="5" name="Shape 3"/>
          <p:cNvSpPr/>
          <p:nvPr/>
        </p:nvSpPr>
        <p:spPr>
          <a:xfrm>
            <a:off x="301752" y="1325880"/>
            <a:ext cx="2743200" cy="530352"/>
          </a:xfrm>
          <a:prstGeom prst="rect">
            <a:avLst/>
          </a:prstGeom>
          <a:solidFill>
            <a:srgbClr val="1DB954"/>
          </a:solidFill>
          <a:ln w="12700">
            <a:solidFill>
              <a:srgbClr val="1DB954"/>
            </a:solidFill>
            <a:prstDash val="solid"/>
          </a:ln>
        </p:spPr>
        <p:txBody>
          <a:bodyPr/>
          <a:lstStyle/>
          <a:p>
            <a:endParaRPr lang="en-US"/>
          </a:p>
        </p:txBody>
      </p:sp>
      <p:sp>
        <p:nvSpPr>
          <p:cNvPr id="6" name="Text 4"/>
          <p:cNvSpPr/>
          <p:nvPr/>
        </p:nvSpPr>
        <p:spPr>
          <a:xfrm>
            <a:off x="429768" y="1353312"/>
            <a:ext cx="411480" cy="457200"/>
          </a:xfrm>
          <a:prstGeom prst="rect">
            <a:avLst/>
          </a:prstGeom>
          <a:noFill/>
          <a:ln/>
        </p:spPr>
        <p:txBody>
          <a:bodyPr wrap="square" lIns="0" tIns="0" rIns="0" bIns="0" rtlCol="0" anchor="ctr"/>
          <a:lstStyle/>
          <a:p>
            <a:pPr marL="0" indent="0">
              <a:buNone/>
            </a:pPr>
            <a:r>
              <a:rPr lang="en-US" sz="1800" b="1" dirty="0">
                <a:solidFill>
                  <a:srgbClr val="121212"/>
                </a:solidFill>
                <a:latin typeface="Trebuchet MS" pitchFamily="34" charset="0"/>
                <a:ea typeface="Trebuchet MS" pitchFamily="34" charset="-122"/>
                <a:cs typeface="Trebuchet MS" pitchFamily="34" charset="-120"/>
              </a:rPr>
              <a:t>02</a:t>
            </a:r>
            <a:endParaRPr lang="en-US" sz="1800" dirty="0"/>
          </a:p>
        </p:txBody>
      </p:sp>
      <p:sp>
        <p:nvSpPr>
          <p:cNvPr id="7" name="Text 5"/>
          <p:cNvSpPr/>
          <p:nvPr/>
        </p:nvSpPr>
        <p:spPr>
          <a:xfrm>
            <a:off x="429768" y="1956816"/>
            <a:ext cx="2487168" cy="5486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The #2 track is the best bet</a:t>
            </a:r>
            <a:endParaRPr lang="en-US" sz="1500" dirty="0"/>
          </a:p>
        </p:txBody>
      </p:sp>
      <p:sp>
        <p:nvSpPr>
          <p:cNvPr id="8" name="Text 6"/>
          <p:cNvSpPr/>
          <p:nvPr/>
        </p:nvSpPr>
        <p:spPr>
          <a:xfrm>
            <a:off x="429768" y="2578608"/>
            <a:ext cx="2487168" cy="2103120"/>
          </a:xfrm>
          <a:prstGeom prst="rect">
            <a:avLst/>
          </a:prstGeom>
          <a:noFill/>
          <a:ln/>
        </p:spPr>
        <p:txBody>
          <a:bodyPr wrap="square" lIns="0" tIns="0" rIns="0" bIns="0" rtlCol="0" anchor="t"/>
          <a:lstStyle/>
          <a:p>
            <a:pPr marL="0" indent="0">
              <a:buNone/>
            </a:pPr>
            <a:r>
              <a:rPr lang="en-US" sz="1250" dirty="0">
                <a:solidFill>
                  <a:srgbClr val="B3B3B3"/>
                </a:solidFill>
                <a:latin typeface="Calibri" pitchFamily="34" charset="0"/>
                <a:ea typeface="Calibri" pitchFamily="34" charset="-122"/>
                <a:cs typeface="Calibri" pitchFamily="34" charset="-120"/>
              </a:rPr>
              <a:t>For every artist, we identified the second most-viewed track. It has already proven it can attract an audience. It just hasn't had the push yet. Promoting a track that is already gaining traction costs far less than launching something cold.</a:t>
            </a:r>
            <a:endParaRPr lang="en-US" sz="1250" dirty="0"/>
          </a:p>
        </p:txBody>
      </p:sp>
      <p:sp>
        <p:nvSpPr>
          <p:cNvPr id="9" name="Shape 7"/>
          <p:cNvSpPr/>
          <p:nvPr/>
        </p:nvSpPr>
        <p:spPr>
          <a:xfrm>
            <a:off x="3172968" y="1325880"/>
            <a:ext cx="2743200" cy="3520440"/>
          </a:xfrm>
          <a:prstGeom prst="rect">
            <a:avLst/>
          </a:prstGeom>
          <a:solidFill>
            <a:srgbClr val="282828"/>
          </a:solidFill>
          <a:ln w="12700">
            <a:solidFill>
              <a:srgbClr val="3E3E3E"/>
            </a:solidFill>
            <a:prstDash val="solid"/>
          </a:ln>
        </p:spPr>
        <p:txBody>
          <a:bodyPr/>
          <a:lstStyle/>
          <a:p>
            <a:endParaRPr lang="en-US"/>
          </a:p>
        </p:txBody>
      </p:sp>
      <p:sp>
        <p:nvSpPr>
          <p:cNvPr id="10" name="Shape 8"/>
          <p:cNvSpPr/>
          <p:nvPr/>
        </p:nvSpPr>
        <p:spPr>
          <a:xfrm>
            <a:off x="3172968" y="1325880"/>
            <a:ext cx="2743200" cy="530352"/>
          </a:xfrm>
          <a:prstGeom prst="rect">
            <a:avLst/>
          </a:prstGeom>
          <a:solidFill>
            <a:srgbClr val="1ED760"/>
          </a:solidFill>
          <a:ln w="12700">
            <a:solidFill>
              <a:srgbClr val="1ED760"/>
            </a:solidFill>
            <a:prstDash val="solid"/>
          </a:ln>
        </p:spPr>
        <p:txBody>
          <a:bodyPr/>
          <a:lstStyle/>
          <a:p>
            <a:endParaRPr lang="en-US"/>
          </a:p>
        </p:txBody>
      </p:sp>
      <p:sp>
        <p:nvSpPr>
          <p:cNvPr id="11" name="Text 9"/>
          <p:cNvSpPr/>
          <p:nvPr/>
        </p:nvSpPr>
        <p:spPr>
          <a:xfrm>
            <a:off x="3300984" y="1353312"/>
            <a:ext cx="411480" cy="457200"/>
          </a:xfrm>
          <a:prstGeom prst="rect">
            <a:avLst/>
          </a:prstGeom>
          <a:noFill/>
          <a:ln/>
        </p:spPr>
        <p:txBody>
          <a:bodyPr wrap="square" lIns="0" tIns="0" rIns="0" bIns="0" rtlCol="0" anchor="ctr"/>
          <a:lstStyle/>
          <a:p>
            <a:pPr marL="0" indent="0">
              <a:buNone/>
            </a:pPr>
            <a:r>
              <a:rPr lang="en-US" sz="1800" b="1" dirty="0">
                <a:solidFill>
                  <a:srgbClr val="121212"/>
                </a:solidFill>
                <a:latin typeface="Trebuchet MS" pitchFamily="34" charset="0"/>
                <a:ea typeface="Trebuchet MS" pitchFamily="34" charset="-122"/>
                <a:cs typeface="Trebuchet MS" pitchFamily="34" charset="-120"/>
              </a:rPr>
              <a:t>03</a:t>
            </a:r>
            <a:endParaRPr lang="en-US" sz="1800" dirty="0"/>
          </a:p>
        </p:txBody>
      </p:sp>
      <p:sp>
        <p:nvSpPr>
          <p:cNvPr id="12" name="Text 10"/>
          <p:cNvSpPr/>
          <p:nvPr/>
        </p:nvSpPr>
        <p:spPr>
          <a:xfrm>
            <a:off x="3300984" y="1956816"/>
            <a:ext cx="2487168" cy="5486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Is the artist a one-hit catalogue?</a:t>
            </a:r>
            <a:endParaRPr lang="en-US" sz="1500" dirty="0"/>
          </a:p>
        </p:txBody>
      </p:sp>
      <p:sp>
        <p:nvSpPr>
          <p:cNvPr id="13" name="Text 11"/>
          <p:cNvSpPr/>
          <p:nvPr/>
        </p:nvSpPr>
        <p:spPr>
          <a:xfrm>
            <a:off x="3300984" y="2578608"/>
            <a:ext cx="2487168" cy="2103120"/>
          </a:xfrm>
          <a:prstGeom prst="rect">
            <a:avLst/>
          </a:prstGeom>
          <a:noFill/>
          <a:ln/>
        </p:spPr>
        <p:txBody>
          <a:bodyPr wrap="square" lIns="0" tIns="0" rIns="0" bIns="0" rtlCol="0" anchor="t"/>
          <a:lstStyle/>
          <a:p>
            <a:pPr marL="0" indent="0">
              <a:buNone/>
            </a:pPr>
            <a:r>
              <a:rPr lang="en-US" sz="1250" dirty="0">
                <a:solidFill>
                  <a:srgbClr val="B3B3B3"/>
                </a:solidFill>
                <a:latin typeface="Calibri" pitchFamily="34" charset="0"/>
                <a:ea typeface="Calibri" pitchFamily="34" charset="-122"/>
                <a:cs typeface="Calibri" pitchFamily="34" charset="-120"/>
              </a:rPr>
              <a:t>We measured how far each artist's #1 track outperforms the rest of their catalogue. A huge gap means fans only know one song, a major risk for long-term growth. These artists need targeted campaigns to pull listeners deeper into their discography.</a:t>
            </a:r>
            <a:endParaRPr lang="en-US" sz="1250" dirty="0"/>
          </a:p>
        </p:txBody>
      </p:sp>
      <p:sp>
        <p:nvSpPr>
          <p:cNvPr id="14" name="Shape 12"/>
          <p:cNvSpPr/>
          <p:nvPr/>
        </p:nvSpPr>
        <p:spPr>
          <a:xfrm>
            <a:off x="6044184" y="1325880"/>
            <a:ext cx="2743200" cy="3520440"/>
          </a:xfrm>
          <a:prstGeom prst="rect">
            <a:avLst/>
          </a:prstGeom>
          <a:solidFill>
            <a:srgbClr val="282828"/>
          </a:solidFill>
          <a:ln w="12700">
            <a:solidFill>
              <a:srgbClr val="3E3E3E"/>
            </a:solidFill>
            <a:prstDash val="solid"/>
          </a:ln>
        </p:spPr>
        <p:txBody>
          <a:bodyPr/>
          <a:lstStyle/>
          <a:p>
            <a:endParaRPr lang="en-US"/>
          </a:p>
        </p:txBody>
      </p:sp>
      <p:sp>
        <p:nvSpPr>
          <p:cNvPr id="15" name="Shape 13"/>
          <p:cNvSpPr/>
          <p:nvPr/>
        </p:nvSpPr>
        <p:spPr>
          <a:xfrm>
            <a:off x="6044184" y="1325880"/>
            <a:ext cx="2743200" cy="530352"/>
          </a:xfrm>
          <a:prstGeom prst="rect">
            <a:avLst/>
          </a:prstGeom>
          <a:solidFill>
            <a:srgbClr val="158A3E"/>
          </a:solidFill>
          <a:ln w="12700">
            <a:solidFill>
              <a:srgbClr val="158A3E"/>
            </a:solidFill>
            <a:prstDash val="solid"/>
          </a:ln>
        </p:spPr>
        <p:txBody>
          <a:bodyPr/>
          <a:lstStyle/>
          <a:p>
            <a:endParaRPr lang="en-US"/>
          </a:p>
        </p:txBody>
      </p:sp>
      <p:sp>
        <p:nvSpPr>
          <p:cNvPr id="16" name="Text 14"/>
          <p:cNvSpPr/>
          <p:nvPr/>
        </p:nvSpPr>
        <p:spPr>
          <a:xfrm>
            <a:off x="6172200" y="1353312"/>
            <a:ext cx="411480" cy="457200"/>
          </a:xfrm>
          <a:prstGeom prst="rect">
            <a:avLst/>
          </a:prstGeom>
          <a:noFill/>
          <a:ln/>
        </p:spPr>
        <p:txBody>
          <a:bodyPr wrap="square" lIns="0" tIns="0" rIns="0" bIns="0" rtlCol="0" anchor="ctr"/>
          <a:lstStyle/>
          <a:p>
            <a:pPr marL="0" indent="0">
              <a:buNone/>
            </a:pPr>
            <a:r>
              <a:rPr lang="en-US" sz="1800" b="1" dirty="0">
                <a:solidFill>
                  <a:srgbClr val="121212"/>
                </a:solidFill>
                <a:latin typeface="Trebuchet MS" pitchFamily="34" charset="0"/>
                <a:ea typeface="Trebuchet MS" pitchFamily="34" charset="-122"/>
                <a:cs typeface="Trebuchet MS" pitchFamily="34" charset="-120"/>
              </a:rPr>
              <a:t>04</a:t>
            </a:r>
            <a:endParaRPr lang="en-US" sz="1800" dirty="0"/>
          </a:p>
        </p:txBody>
      </p:sp>
      <p:sp>
        <p:nvSpPr>
          <p:cNvPr id="17" name="Text 15"/>
          <p:cNvSpPr/>
          <p:nvPr/>
        </p:nvSpPr>
        <p:spPr>
          <a:xfrm>
            <a:off x="6172200" y="1956816"/>
            <a:ext cx="2487168" cy="5486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Cut what is not working</a:t>
            </a:r>
            <a:endParaRPr lang="en-US" sz="1500" dirty="0"/>
          </a:p>
        </p:txBody>
      </p:sp>
      <p:sp>
        <p:nvSpPr>
          <p:cNvPr id="18" name="Text 16"/>
          <p:cNvSpPr/>
          <p:nvPr/>
        </p:nvSpPr>
        <p:spPr>
          <a:xfrm>
            <a:off x="6172200" y="2578608"/>
            <a:ext cx="2487168" cy="2103120"/>
          </a:xfrm>
          <a:prstGeom prst="rect">
            <a:avLst/>
          </a:prstGeom>
          <a:noFill/>
          <a:ln/>
        </p:spPr>
        <p:txBody>
          <a:bodyPr wrap="square" lIns="0" tIns="0" rIns="0" bIns="0" rtlCol="0" anchor="t"/>
          <a:lstStyle/>
          <a:p>
            <a:pPr marL="0" indent="0">
              <a:buNone/>
            </a:pPr>
            <a:r>
              <a:rPr lang="en-US" sz="1250" dirty="0">
                <a:solidFill>
                  <a:srgbClr val="B3B3B3"/>
                </a:solidFill>
                <a:latin typeface="Calibri" pitchFamily="34" charset="0"/>
                <a:ea typeface="Calibri" pitchFamily="34" charset="-122"/>
                <a:cs typeface="Calibri" pitchFamily="34" charset="-120"/>
              </a:rPr>
              <a:t>We flagged the least-streamed track for every artist. Whether it is a forgotten deep cut or a release that never landed, removing it from rotation or re-pitching it differently frees up editorial space for content that actually converts.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1DB954"/>
          </a:solidFill>
          <a:ln w="12700">
            <a:solidFill>
              <a:srgbClr val="1DB954"/>
            </a:solidFill>
            <a:prstDash val="solid"/>
          </a:ln>
        </p:spPr>
        <p:txBody>
          <a:bodyPr/>
          <a:lstStyle/>
          <a:p>
            <a:endParaRPr lang="en-US"/>
          </a:p>
        </p:txBody>
      </p:sp>
      <p:sp>
        <p:nvSpPr>
          <p:cNvPr id="3" name="Text 1"/>
          <p:cNvSpPr/>
          <p:nvPr/>
        </p:nvSpPr>
        <p:spPr>
          <a:xfrm>
            <a:off x="137160" y="1371600"/>
            <a:ext cx="2651760" cy="1005840"/>
          </a:xfrm>
          <a:prstGeom prst="rect">
            <a:avLst/>
          </a:prstGeom>
          <a:noFill/>
          <a:ln/>
        </p:spPr>
        <p:txBody>
          <a:bodyPr wrap="square" lIns="0" tIns="0" rIns="0" bIns="0" rtlCol="0" anchor="ctr"/>
          <a:lstStyle/>
          <a:p>
            <a:pPr marL="0" indent="0" algn="ctr">
              <a:buNone/>
            </a:pPr>
            <a:r>
              <a:rPr lang="en-US" sz="2800" b="1" dirty="0">
                <a:solidFill>
                  <a:srgbClr val="121212"/>
                </a:solidFill>
                <a:latin typeface="Trebuchet MS" pitchFamily="34" charset="0"/>
                <a:ea typeface="Trebuchet MS" pitchFamily="34" charset="-122"/>
                <a:cs typeface="Trebuchet MS" pitchFamily="34" charset="-120"/>
              </a:rPr>
              <a:t>PLAYLIST</a:t>
            </a:r>
            <a:endParaRPr lang="en-US" sz="2800" dirty="0"/>
          </a:p>
          <a:p>
            <a:pPr marL="0" indent="0" algn="ctr">
              <a:buNone/>
            </a:pPr>
            <a:r>
              <a:rPr lang="en-US" sz="2800" b="1" dirty="0">
                <a:solidFill>
                  <a:srgbClr val="121212"/>
                </a:solidFill>
                <a:latin typeface="Trebuchet MS" pitchFamily="34" charset="0"/>
                <a:ea typeface="Trebuchet MS" pitchFamily="34" charset="-122"/>
                <a:cs typeface="Trebuchet MS" pitchFamily="34" charset="-120"/>
              </a:rPr>
              <a:t>STRATEGY</a:t>
            </a:r>
            <a:endParaRPr lang="en-US" sz="2800" dirty="0"/>
          </a:p>
        </p:txBody>
      </p:sp>
      <p:sp>
        <p:nvSpPr>
          <p:cNvPr id="4" name="Text 2"/>
          <p:cNvSpPr/>
          <p:nvPr/>
        </p:nvSpPr>
        <p:spPr>
          <a:xfrm>
            <a:off x="137160" y="2514600"/>
            <a:ext cx="2651760" cy="685800"/>
          </a:xfrm>
          <a:prstGeom prst="rect">
            <a:avLst/>
          </a:prstGeom>
          <a:noFill/>
          <a:ln/>
        </p:spPr>
        <p:txBody>
          <a:bodyPr wrap="square" lIns="0" tIns="0" rIns="0" bIns="0" rtlCol="0" anchor="ctr"/>
          <a:lstStyle/>
          <a:p>
            <a:pPr marL="0" indent="0" algn="ctr">
              <a:buNone/>
            </a:pPr>
            <a:r>
              <a:rPr lang="en-US" sz="1700" dirty="0">
                <a:solidFill>
                  <a:srgbClr val="121212"/>
                </a:solidFill>
                <a:latin typeface="Trebuchet MS" pitchFamily="34" charset="0"/>
                <a:ea typeface="Trebuchet MS" pitchFamily="34" charset="-122"/>
                <a:cs typeface="Trebuchet MS" pitchFamily="34" charset="-120"/>
              </a:rPr>
              <a:t>Built on</a:t>
            </a:r>
            <a:endParaRPr lang="en-US" sz="1700" dirty="0"/>
          </a:p>
          <a:p>
            <a:pPr marL="0" indent="0" algn="ctr">
              <a:buNone/>
            </a:pPr>
            <a:r>
              <a:rPr lang="en-US" sz="1700" dirty="0">
                <a:solidFill>
                  <a:srgbClr val="121212"/>
                </a:solidFill>
                <a:latin typeface="Trebuchet MS" pitchFamily="34" charset="0"/>
                <a:ea typeface="Trebuchet MS" pitchFamily="34" charset="-122"/>
                <a:cs typeface="Trebuchet MS" pitchFamily="34" charset="-120"/>
              </a:rPr>
              <a:t>listener data</a:t>
            </a:r>
            <a:endParaRPr lang="en-US" sz="1700" dirty="0"/>
          </a:p>
        </p:txBody>
      </p:sp>
      <p:sp>
        <p:nvSpPr>
          <p:cNvPr id="5" name="Shape 3"/>
          <p:cNvSpPr/>
          <p:nvPr/>
        </p:nvSpPr>
        <p:spPr>
          <a:xfrm>
            <a:off x="457200" y="3657600"/>
            <a:ext cx="2011680" cy="2011680"/>
          </a:xfrm>
          <a:prstGeom prst="ellipse">
            <a:avLst/>
          </a:prstGeom>
          <a:solidFill>
            <a:srgbClr val="158A3E">
              <a:alpha val="50000"/>
            </a:srgbClr>
          </a:solidFill>
          <a:ln w="12700">
            <a:solidFill>
              <a:srgbClr val="158A3E">
                <a:alpha val="50000"/>
              </a:srgbClr>
            </a:solidFill>
            <a:prstDash val="solid"/>
          </a:ln>
        </p:spPr>
        <p:txBody>
          <a:bodyPr/>
          <a:lstStyle/>
          <a:p>
            <a:endParaRPr lang="en-US"/>
          </a:p>
        </p:txBody>
      </p:sp>
      <p:sp>
        <p:nvSpPr>
          <p:cNvPr id="6" name="Text 4"/>
          <p:cNvSpPr/>
          <p:nvPr/>
        </p:nvSpPr>
        <p:spPr>
          <a:xfrm>
            <a:off x="457200" y="3749040"/>
            <a:ext cx="2011680" cy="914400"/>
          </a:xfrm>
          <a:prstGeom prst="rect">
            <a:avLst/>
          </a:prstGeom>
          <a:noFill/>
          <a:ln/>
        </p:spPr>
        <p:txBody>
          <a:bodyPr wrap="square" lIns="0" tIns="0" rIns="0" bIns="0" rtlCol="0" anchor="ctr"/>
          <a:lstStyle/>
          <a:p>
            <a:pPr marL="0" indent="0" algn="ctr">
              <a:buNone/>
            </a:pPr>
            <a:r>
              <a:rPr lang="en-US" sz="4200" dirty="0">
                <a:solidFill>
                  <a:srgbClr val="121212"/>
                </a:solidFill>
                <a:latin typeface="Trebuchet MS" pitchFamily="34" charset="0"/>
                <a:ea typeface="Trebuchet MS" pitchFamily="34" charset="-122"/>
                <a:cs typeface="Trebuchet MS" pitchFamily="34" charset="-120"/>
              </a:rPr>
              <a:t>▶</a:t>
            </a:r>
            <a:endParaRPr lang="en-US" sz="4200" dirty="0"/>
          </a:p>
        </p:txBody>
      </p:sp>
      <p:sp>
        <p:nvSpPr>
          <p:cNvPr id="7" name="Shape 5"/>
          <p:cNvSpPr/>
          <p:nvPr/>
        </p:nvSpPr>
        <p:spPr>
          <a:xfrm>
            <a:off x="3154680" y="274320"/>
            <a:ext cx="5669280" cy="2148840"/>
          </a:xfrm>
          <a:prstGeom prst="rect">
            <a:avLst/>
          </a:prstGeom>
          <a:solidFill>
            <a:srgbClr val="282828"/>
          </a:solidFill>
          <a:ln w="12700">
            <a:solidFill>
              <a:srgbClr val="3E3E3E"/>
            </a:solidFill>
            <a:prstDash val="solid"/>
          </a:ln>
        </p:spPr>
        <p:txBody>
          <a:bodyPr/>
          <a:lstStyle/>
          <a:p>
            <a:endParaRPr lang="en-US"/>
          </a:p>
        </p:txBody>
      </p:sp>
      <p:sp>
        <p:nvSpPr>
          <p:cNvPr id="8" name="Shape 6"/>
          <p:cNvSpPr/>
          <p:nvPr/>
        </p:nvSpPr>
        <p:spPr>
          <a:xfrm>
            <a:off x="3154680" y="274320"/>
            <a:ext cx="5669280" cy="64008"/>
          </a:xfrm>
          <a:prstGeom prst="rect">
            <a:avLst/>
          </a:prstGeom>
          <a:solidFill>
            <a:srgbClr val="1DB954"/>
          </a:solidFill>
          <a:ln w="12700">
            <a:solidFill>
              <a:srgbClr val="1DB954"/>
            </a:solidFill>
            <a:prstDash val="solid"/>
          </a:ln>
        </p:spPr>
        <p:txBody>
          <a:bodyPr/>
          <a:lstStyle/>
          <a:p>
            <a:endParaRPr lang="en-US"/>
          </a:p>
        </p:txBody>
      </p:sp>
      <p:sp>
        <p:nvSpPr>
          <p:cNvPr id="9" name="Text 7"/>
          <p:cNvSpPr/>
          <p:nvPr/>
        </p:nvSpPr>
        <p:spPr>
          <a:xfrm>
            <a:off x="3337560" y="438912"/>
            <a:ext cx="53035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Automated workout and activity playlists</a:t>
            </a:r>
            <a:endParaRPr lang="en-US" sz="1900" dirty="0"/>
          </a:p>
        </p:txBody>
      </p:sp>
      <p:sp>
        <p:nvSpPr>
          <p:cNvPr id="10" name="Text 8"/>
          <p:cNvSpPr/>
          <p:nvPr/>
        </p:nvSpPr>
        <p:spPr>
          <a:xfrm>
            <a:off x="3337560" y="1005840"/>
            <a:ext cx="5303520" cy="1261872"/>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We ranked the top 3 highest-energy tracks per artist using audio features from the data. This means fitness apps, running playlists, and high-intensity workout channels can be populated automatically. No manual curation needed. The result is fresher playlists updated in real time as new tracks are released.</a:t>
            </a:r>
            <a:endParaRPr lang="en-US" sz="1300" dirty="0"/>
          </a:p>
        </p:txBody>
      </p:sp>
      <p:sp>
        <p:nvSpPr>
          <p:cNvPr id="11" name="Shape 9"/>
          <p:cNvSpPr/>
          <p:nvPr/>
        </p:nvSpPr>
        <p:spPr>
          <a:xfrm>
            <a:off x="3154680" y="2651760"/>
            <a:ext cx="5669280" cy="2212848"/>
          </a:xfrm>
          <a:prstGeom prst="rect">
            <a:avLst/>
          </a:prstGeom>
          <a:solidFill>
            <a:srgbClr val="282828"/>
          </a:solidFill>
          <a:ln w="12700">
            <a:solidFill>
              <a:srgbClr val="3E3E3E"/>
            </a:solidFill>
            <a:prstDash val="solid"/>
          </a:ln>
        </p:spPr>
        <p:txBody>
          <a:bodyPr/>
          <a:lstStyle/>
          <a:p>
            <a:endParaRPr lang="en-US"/>
          </a:p>
        </p:txBody>
      </p:sp>
      <p:sp>
        <p:nvSpPr>
          <p:cNvPr id="12" name="Shape 10"/>
          <p:cNvSpPr/>
          <p:nvPr/>
        </p:nvSpPr>
        <p:spPr>
          <a:xfrm>
            <a:off x="3154680" y="2651760"/>
            <a:ext cx="5669280" cy="64008"/>
          </a:xfrm>
          <a:prstGeom prst="rect">
            <a:avLst/>
          </a:prstGeom>
          <a:solidFill>
            <a:srgbClr val="1ED760"/>
          </a:solidFill>
          <a:ln w="12700">
            <a:solidFill>
              <a:srgbClr val="1ED760"/>
            </a:solidFill>
            <a:prstDash val="solid"/>
          </a:ln>
        </p:spPr>
        <p:txBody>
          <a:bodyPr/>
          <a:lstStyle/>
          <a:p>
            <a:endParaRPr lang="en-US"/>
          </a:p>
        </p:txBody>
      </p:sp>
      <p:sp>
        <p:nvSpPr>
          <p:cNvPr id="13" name="Text 11"/>
          <p:cNvSpPr/>
          <p:nvPr/>
        </p:nvSpPr>
        <p:spPr>
          <a:xfrm>
            <a:off x="3337560" y="2816352"/>
            <a:ext cx="5303520" cy="475488"/>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Albums have a natural danceability arc</a:t>
            </a:r>
            <a:endParaRPr lang="en-US" sz="1900" dirty="0"/>
          </a:p>
        </p:txBody>
      </p:sp>
      <p:sp>
        <p:nvSpPr>
          <p:cNvPr id="14" name="Text 12"/>
          <p:cNvSpPr/>
          <p:nvPr/>
        </p:nvSpPr>
        <p:spPr>
          <a:xfrm>
            <a:off x="3337560" y="3383280"/>
            <a:ext cx="5303520" cy="1325880"/>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Within every album we ranked tracks by how danceable they are. This unlocks mood-based and genre-specific playlist building at the album level. So when someone is added to a late-night dance playlist, the algorithm can pull the right track rather than just the most popular one from that artist.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Understanding Stream Trends</a:t>
            </a:r>
            <a:endParaRPr lang="en-US" sz="3600" dirty="0"/>
          </a:p>
        </p:txBody>
      </p:sp>
      <p:sp>
        <p:nvSpPr>
          <p:cNvPr id="3" name="Text 1"/>
          <p:cNvSpPr/>
          <p:nvPr/>
        </p:nvSpPr>
        <p:spPr>
          <a:xfrm>
            <a:off x="457200" y="850392"/>
            <a:ext cx="8229600" cy="347472"/>
          </a:xfrm>
          <a:prstGeom prst="rect">
            <a:avLst/>
          </a:prstGeom>
          <a:noFill/>
          <a:ln/>
        </p:spPr>
        <p:txBody>
          <a:bodyPr wrap="square" lIns="0" tIns="0" rIns="0" bIns="0" rtlCol="0" anchor="ctr"/>
          <a:lstStyle/>
          <a:p>
            <a:pPr marL="0" indent="0">
              <a:buNone/>
            </a:pPr>
            <a:r>
              <a:rPr lang="en-US" sz="1400" dirty="0">
                <a:solidFill>
                  <a:srgbClr val="1DB954"/>
                </a:solidFill>
                <a:latin typeface="Calibri" pitchFamily="34" charset="0"/>
                <a:ea typeface="Calibri" pitchFamily="34" charset="-122"/>
                <a:cs typeface="Calibri" pitchFamily="34" charset="-120"/>
              </a:rPr>
              <a:t>Two analyses that reveal how an artist's audience is actually growing</a:t>
            </a:r>
            <a:endParaRPr lang="en-US" sz="1400" dirty="0"/>
          </a:p>
        </p:txBody>
      </p:sp>
      <p:sp>
        <p:nvSpPr>
          <p:cNvPr id="4" name="Shape 2"/>
          <p:cNvSpPr/>
          <p:nvPr/>
        </p:nvSpPr>
        <p:spPr>
          <a:xfrm>
            <a:off x="365760" y="1353312"/>
            <a:ext cx="3977640" cy="3474720"/>
          </a:xfrm>
          <a:prstGeom prst="rect">
            <a:avLst/>
          </a:prstGeom>
          <a:solidFill>
            <a:srgbClr val="282828"/>
          </a:solidFill>
          <a:ln w="12700">
            <a:solidFill>
              <a:srgbClr val="3E3E3E"/>
            </a:solidFill>
            <a:prstDash val="solid"/>
          </a:ln>
        </p:spPr>
        <p:txBody>
          <a:bodyPr/>
          <a:lstStyle/>
          <a:p>
            <a:endParaRPr lang="en-US"/>
          </a:p>
        </p:txBody>
      </p:sp>
      <p:sp>
        <p:nvSpPr>
          <p:cNvPr id="5" name="Shape 3"/>
          <p:cNvSpPr/>
          <p:nvPr/>
        </p:nvSpPr>
        <p:spPr>
          <a:xfrm>
            <a:off x="365760" y="1353312"/>
            <a:ext cx="3977640" cy="64008"/>
          </a:xfrm>
          <a:prstGeom prst="rect">
            <a:avLst/>
          </a:prstGeom>
          <a:solidFill>
            <a:srgbClr val="1DB954"/>
          </a:solidFill>
          <a:ln w="12700">
            <a:solidFill>
              <a:srgbClr val="1DB954"/>
            </a:solidFill>
            <a:prstDash val="solid"/>
          </a:ln>
        </p:spPr>
        <p:txBody>
          <a:bodyPr/>
          <a:lstStyle/>
          <a:p>
            <a:endParaRPr lang="en-US"/>
          </a:p>
        </p:txBody>
      </p:sp>
      <p:sp>
        <p:nvSpPr>
          <p:cNvPr id="6" name="Shape 4"/>
          <p:cNvSpPr/>
          <p:nvPr/>
        </p:nvSpPr>
        <p:spPr>
          <a:xfrm>
            <a:off x="502920" y="1536192"/>
            <a:ext cx="1005840" cy="1005840"/>
          </a:xfrm>
          <a:prstGeom prst="ellipse">
            <a:avLst/>
          </a:prstGeom>
          <a:solidFill>
            <a:srgbClr val="158A3E">
              <a:alpha val="40000"/>
            </a:srgbClr>
          </a:solidFill>
          <a:ln w="12700">
            <a:solidFill>
              <a:srgbClr val="1DB954"/>
            </a:solidFill>
            <a:prstDash val="solid"/>
          </a:ln>
        </p:spPr>
        <p:txBody>
          <a:bodyPr/>
          <a:lstStyle/>
          <a:p>
            <a:endParaRPr lang="en-US"/>
          </a:p>
        </p:txBody>
      </p:sp>
      <p:sp>
        <p:nvSpPr>
          <p:cNvPr id="7" name="Text 5"/>
          <p:cNvSpPr/>
          <p:nvPr/>
        </p:nvSpPr>
        <p:spPr>
          <a:xfrm>
            <a:off x="502920" y="1536192"/>
            <a:ext cx="1005840" cy="1005840"/>
          </a:xfrm>
          <a:prstGeom prst="rect">
            <a:avLst/>
          </a:prstGeom>
          <a:noFill/>
          <a:ln/>
        </p:spPr>
        <p:txBody>
          <a:bodyPr wrap="square" lIns="0" tIns="0" rIns="0" bIns="0" rtlCol="0" anchor="ctr"/>
          <a:lstStyle/>
          <a:p>
            <a:pPr marL="0" indent="0" algn="ctr">
              <a:buNone/>
            </a:pPr>
            <a:r>
              <a:rPr lang="en-US" sz="1600" b="1" dirty="0">
                <a:solidFill>
                  <a:srgbClr val="1DB954"/>
                </a:solidFill>
                <a:latin typeface="Consolas" pitchFamily="34" charset="0"/>
                <a:ea typeface="Consolas" pitchFamily="34" charset="-122"/>
                <a:cs typeface="Consolas" pitchFamily="34" charset="-120"/>
              </a:rPr>
              <a:t>LAG</a:t>
            </a:r>
            <a:endParaRPr lang="en-US" sz="1600" dirty="0"/>
          </a:p>
        </p:txBody>
      </p:sp>
      <p:sp>
        <p:nvSpPr>
          <p:cNvPr id="8" name="Text 6"/>
          <p:cNvSpPr/>
          <p:nvPr/>
        </p:nvSpPr>
        <p:spPr>
          <a:xfrm>
            <a:off x="1645920" y="1536192"/>
            <a:ext cx="2514600" cy="6400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Are streams climbing or dropping between releases?</a:t>
            </a:r>
            <a:endParaRPr lang="en-US" sz="1500" dirty="0"/>
          </a:p>
        </p:txBody>
      </p:sp>
      <p:sp>
        <p:nvSpPr>
          <p:cNvPr id="9" name="Text 7"/>
          <p:cNvSpPr/>
          <p:nvPr/>
        </p:nvSpPr>
        <p:spPr>
          <a:xfrm>
            <a:off x="530352" y="2633472"/>
            <a:ext cx="3639312" cy="2011680"/>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By comparing each track to the one before it, we can see at a glance whether an artist is building momentum or losing it. If track 5 has fewer streams than track 4, that is a signal to investigate: is the quality dipping, or did the release strategy change? This kind of sequential view is impossible to see from a simple total.</a:t>
            </a:r>
            <a:endParaRPr lang="en-US" sz="1300" dirty="0"/>
          </a:p>
        </p:txBody>
      </p:sp>
      <p:sp>
        <p:nvSpPr>
          <p:cNvPr id="10" name="Shape 8"/>
          <p:cNvSpPr/>
          <p:nvPr/>
        </p:nvSpPr>
        <p:spPr>
          <a:xfrm>
            <a:off x="4800600" y="1353312"/>
            <a:ext cx="3977640" cy="3474720"/>
          </a:xfrm>
          <a:prstGeom prst="rect">
            <a:avLst/>
          </a:prstGeom>
          <a:solidFill>
            <a:srgbClr val="282828"/>
          </a:solidFill>
          <a:ln w="12700">
            <a:solidFill>
              <a:srgbClr val="3E3E3E"/>
            </a:solidFill>
            <a:prstDash val="solid"/>
          </a:ln>
        </p:spPr>
        <p:txBody>
          <a:bodyPr/>
          <a:lstStyle/>
          <a:p>
            <a:endParaRPr lang="en-US"/>
          </a:p>
        </p:txBody>
      </p:sp>
      <p:sp>
        <p:nvSpPr>
          <p:cNvPr id="11" name="Shape 9"/>
          <p:cNvSpPr/>
          <p:nvPr/>
        </p:nvSpPr>
        <p:spPr>
          <a:xfrm>
            <a:off x="4800600" y="1353312"/>
            <a:ext cx="3977640" cy="64008"/>
          </a:xfrm>
          <a:prstGeom prst="rect">
            <a:avLst/>
          </a:prstGeom>
          <a:solidFill>
            <a:srgbClr val="1ED760"/>
          </a:solidFill>
          <a:ln w="12700">
            <a:solidFill>
              <a:srgbClr val="1ED760"/>
            </a:solidFill>
            <a:prstDash val="solid"/>
          </a:ln>
        </p:spPr>
        <p:txBody>
          <a:bodyPr/>
          <a:lstStyle/>
          <a:p>
            <a:endParaRPr lang="en-US"/>
          </a:p>
        </p:txBody>
      </p:sp>
      <p:sp>
        <p:nvSpPr>
          <p:cNvPr id="12" name="Shape 10"/>
          <p:cNvSpPr/>
          <p:nvPr/>
        </p:nvSpPr>
        <p:spPr>
          <a:xfrm>
            <a:off x="4937760" y="1536192"/>
            <a:ext cx="1005840" cy="1005840"/>
          </a:xfrm>
          <a:prstGeom prst="ellipse">
            <a:avLst/>
          </a:prstGeom>
          <a:solidFill>
            <a:srgbClr val="158A3E">
              <a:alpha val="40000"/>
            </a:srgbClr>
          </a:solidFill>
          <a:ln w="12700">
            <a:solidFill>
              <a:srgbClr val="1ED760"/>
            </a:solidFill>
            <a:prstDash val="solid"/>
          </a:ln>
        </p:spPr>
        <p:txBody>
          <a:bodyPr/>
          <a:lstStyle/>
          <a:p>
            <a:endParaRPr lang="en-US"/>
          </a:p>
        </p:txBody>
      </p:sp>
      <p:sp>
        <p:nvSpPr>
          <p:cNvPr id="13" name="Text 11"/>
          <p:cNvSpPr/>
          <p:nvPr/>
        </p:nvSpPr>
        <p:spPr>
          <a:xfrm>
            <a:off x="4937760" y="1536192"/>
            <a:ext cx="1005840" cy="1005840"/>
          </a:xfrm>
          <a:prstGeom prst="rect">
            <a:avLst/>
          </a:prstGeom>
          <a:noFill/>
          <a:ln/>
        </p:spPr>
        <p:txBody>
          <a:bodyPr wrap="square" lIns="0" tIns="0" rIns="0" bIns="0" rtlCol="0" anchor="ctr"/>
          <a:lstStyle/>
          <a:p>
            <a:pPr marL="0" indent="0" algn="ctr">
              <a:buNone/>
            </a:pPr>
            <a:r>
              <a:rPr lang="en-US" sz="1300" b="1" dirty="0">
                <a:solidFill>
                  <a:srgbClr val="1ED760"/>
                </a:solidFill>
                <a:latin typeface="Calibri" pitchFamily="34" charset="0"/>
                <a:ea typeface="Calibri" pitchFamily="34" charset="-122"/>
                <a:cs typeface="Calibri" pitchFamily="34" charset="-120"/>
              </a:rPr>
              <a:t>80/20</a:t>
            </a:r>
            <a:endParaRPr lang="en-US" sz="1300" dirty="0"/>
          </a:p>
        </p:txBody>
      </p:sp>
      <p:sp>
        <p:nvSpPr>
          <p:cNvPr id="14" name="Text 12"/>
          <p:cNvSpPr/>
          <p:nvPr/>
        </p:nvSpPr>
        <p:spPr>
          <a:xfrm>
            <a:off x="6080760" y="1536192"/>
            <a:ext cx="2514600" cy="6400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Which tracks carry the entire catalogue?</a:t>
            </a:r>
            <a:endParaRPr lang="en-US" sz="1500" dirty="0"/>
          </a:p>
        </p:txBody>
      </p:sp>
      <p:sp>
        <p:nvSpPr>
          <p:cNvPr id="15" name="Text 13"/>
          <p:cNvSpPr/>
          <p:nvPr/>
        </p:nvSpPr>
        <p:spPr>
          <a:xfrm>
            <a:off x="4965192" y="2633472"/>
            <a:ext cx="3639312" cy="2011680"/>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A running stream total ordered from highest to lowest shows exactly how quickly streams concentrate. For most artists, the top 3 to 5 tracks account for 80% of all streams. That concentration tells us both where the safety net is and where the growth opportunity sits, in the long tail that most fans have never heard.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5486400" y="-2286000"/>
            <a:ext cx="6400800" cy="6400800"/>
          </a:xfrm>
          <a:prstGeom prst="ellipse">
            <a:avLst/>
          </a:prstGeom>
          <a:solidFill>
            <a:srgbClr val="1DB954">
              <a:alpha val="10000"/>
            </a:srgbClr>
          </a:solidFill>
          <a:ln w="12700">
            <a:solidFill>
              <a:srgbClr val="1DB954">
                <a:alpha val="10000"/>
              </a:srgbClr>
            </a:solidFill>
            <a:prstDash val="solid"/>
          </a:ln>
        </p:spPr>
        <p:txBody>
          <a:bodyPr/>
          <a:lstStyle/>
          <a:p>
            <a:endParaRPr lang="en-US"/>
          </a:p>
        </p:txBody>
      </p:sp>
      <p:sp>
        <p:nvSpPr>
          <p:cNvPr id="3" name="Shape 1"/>
          <p:cNvSpPr/>
          <p:nvPr/>
        </p:nvSpPr>
        <p:spPr>
          <a:xfrm>
            <a:off x="6583680" y="-731520"/>
            <a:ext cx="3657600" cy="3657600"/>
          </a:xfrm>
          <a:prstGeom prst="ellipse">
            <a:avLst/>
          </a:prstGeom>
          <a:solidFill>
            <a:srgbClr val="1DB954">
              <a:alpha val="22000"/>
            </a:srgbClr>
          </a:solidFill>
          <a:ln w="12700">
            <a:solidFill>
              <a:srgbClr val="1DB954">
                <a:alpha val="22000"/>
              </a:srgbClr>
            </a:solidFill>
            <a:prstDash val="solid"/>
          </a:ln>
        </p:spPr>
        <p:txBody>
          <a:bodyPr/>
          <a:lstStyle/>
          <a:p>
            <a:endParaRPr lang="en-US"/>
          </a:p>
        </p:txBody>
      </p:sp>
      <p:sp>
        <p:nvSpPr>
          <p:cNvPr id="4" name="Text 2"/>
          <p:cNvSpPr/>
          <p:nvPr/>
        </p:nvSpPr>
        <p:spPr>
          <a:xfrm>
            <a:off x="457200" y="228600"/>
            <a:ext cx="6858000" cy="1188720"/>
          </a:xfrm>
          <a:prstGeom prst="rect">
            <a:avLst/>
          </a:prstGeom>
          <a:noFill/>
          <a:ln/>
        </p:spPr>
        <p:txBody>
          <a:bodyPr wrap="square" lIns="0" tIns="0" rIns="0" bIns="0" rtlCol="0" anchor="ctr"/>
          <a:lstStyle/>
          <a:p>
            <a:pPr marL="0" indent="0">
              <a:buNone/>
            </a:pPr>
            <a:r>
              <a:rPr lang="en-US" sz="4200" b="1" dirty="0">
                <a:solidFill>
                  <a:srgbClr val="FFFFFF"/>
                </a:solidFill>
                <a:latin typeface="Trebuchet MS" pitchFamily="34" charset="0"/>
                <a:ea typeface="Trebuchet MS" pitchFamily="34" charset="-122"/>
                <a:cs typeface="Trebuchet MS" pitchFamily="34" charset="-120"/>
              </a:rPr>
              <a:t>What We Can Do</a:t>
            </a:r>
            <a:endParaRPr lang="en-US" sz="4200" dirty="0"/>
          </a:p>
          <a:p>
            <a:pPr marL="0" indent="0">
              <a:buNone/>
            </a:pPr>
            <a:r>
              <a:rPr lang="en-US" sz="4200" b="1" dirty="0">
                <a:solidFill>
                  <a:srgbClr val="FFFFFF"/>
                </a:solidFill>
                <a:latin typeface="Trebuchet MS" pitchFamily="34" charset="0"/>
                <a:ea typeface="Trebuchet MS" pitchFamily="34" charset="-122"/>
                <a:cs typeface="Trebuchet MS" pitchFamily="34" charset="-120"/>
              </a:rPr>
              <a:t>With This</a:t>
            </a:r>
            <a:endParaRPr lang="en-US" sz="4200" dirty="0"/>
          </a:p>
        </p:txBody>
      </p:sp>
      <p:sp>
        <p:nvSpPr>
          <p:cNvPr id="5" name="Shape 3"/>
          <p:cNvSpPr/>
          <p:nvPr/>
        </p:nvSpPr>
        <p:spPr>
          <a:xfrm>
            <a:off x="365760" y="1627632"/>
            <a:ext cx="7772400" cy="960120"/>
          </a:xfrm>
          <a:prstGeom prst="rect">
            <a:avLst/>
          </a:prstGeom>
          <a:solidFill>
            <a:srgbClr val="282828"/>
          </a:solidFill>
          <a:ln w="12700">
            <a:solidFill>
              <a:srgbClr val="3E3E3E"/>
            </a:solidFill>
            <a:prstDash val="solid"/>
          </a:ln>
        </p:spPr>
        <p:txBody>
          <a:bodyPr/>
          <a:lstStyle/>
          <a:p>
            <a:endParaRPr lang="en-US"/>
          </a:p>
        </p:txBody>
      </p:sp>
      <p:sp>
        <p:nvSpPr>
          <p:cNvPr id="6" name="Shape 4"/>
          <p:cNvSpPr/>
          <p:nvPr/>
        </p:nvSpPr>
        <p:spPr>
          <a:xfrm>
            <a:off x="365760" y="1627632"/>
            <a:ext cx="658368" cy="960120"/>
          </a:xfrm>
          <a:prstGeom prst="rect">
            <a:avLst/>
          </a:prstGeom>
          <a:solidFill>
            <a:srgbClr val="1DB954"/>
          </a:solidFill>
          <a:ln w="12700">
            <a:solidFill>
              <a:srgbClr val="1DB954"/>
            </a:solidFill>
            <a:prstDash val="solid"/>
          </a:ln>
        </p:spPr>
        <p:txBody>
          <a:bodyPr/>
          <a:lstStyle/>
          <a:p>
            <a:endParaRPr lang="en-US"/>
          </a:p>
        </p:txBody>
      </p:sp>
      <p:sp>
        <p:nvSpPr>
          <p:cNvPr id="7" name="Text 5"/>
          <p:cNvSpPr/>
          <p:nvPr/>
        </p:nvSpPr>
        <p:spPr>
          <a:xfrm>
            <a:off x="365760" y="1627632"/>
            <a:ext cx="658368" cy="960120"/>
          </a:xfrm>
          <a:prstGeom prst="rect">
            <a:avLst/>
          </a:prstGeom>
          <a:noFill/>
          <a:ln/>
        </p:spPr>
        <p:txBody>
          <a:bodyPr wrap="square" lIns="0" tIns="0" rIns="0" bIns="0" rtlCol="0" anchor="ctr"/>
          <a:lstStyle/>
          <a:p>
            <a:pPr marL="0" indent="0" algn="ctr">
              <a:buNone/>
            </a:pPr>
            <a:r>
              <a:rPr lang="en-US" sz="2000" b="1" dirty="0">
                <a:solidFill>
                  <a:srgbClr val="121212"/>
                </a:solidFill>
                <a:latin typeface="Trebuchet MS" pitchFamily="34" charset="0"/>
                <a:ea typeface="Trebuchet MS" pitchFamily="34" charset="-122"/>
                <a:cs typeface="Trebuchet MS" pitchFamily="34" charset="-120"/>
              </a:rPr>
              <a:t>01</a:t>
            </a:r>
            <a:endParaRPr lang="en-US" sz="2000" dirty="0"/>
          </a:p>
        </p:txBody>
      </p:sp>
      <p:sp>
        <p:nvSpPr>
          <p:cNvPr id="8" name="Text 6"/>
          <p:cNvSpPr/>
          <p:nvPr/>
        </p:nvSpPr>
        <p:spPr>
          <a:xfrm>
            <a:off x="1170432" y="1700784"/>
            <a:ext cx="6766560" cy="347472"/>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Stop guessing on promotion</a:t>
            </a:r>
            <a:endParaRPr lang="en-US" sz="1700" dirty="0"/>
          </a:p>
        </p:txBody>
      </p:sp>
      <p:sp>
        <p:nvSpPr>
          <p:cNvPr id="9" name="Text 7"/>
          <p:cNvSpPr/>
          <p:nvPr/>
        </p:nvSpPr>
        <p:spPr>
          <a:xfrm>
            <a:off x="1170432" y="2084832"/>
            <a:ext cx="6766560" cy="438912"/>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We know the #2 track for every artist. We know which albums are underexposed. Every promotional decision now has a data justification behind it.</a:t>
            </a:r>
            <a:endParaRPr lang="en-US" sz="1300" dirty="0"/>
          </a:p>
        </p:txBody>
      </p:sp>
      <p:sp>
        <p:nvSpPr>
          <p:cNvPr id="10" name="Shape 8"/>
          <p:cNvSpPr/>
          <p:nvPr/>
        </p:nvSpPr>
        <p:spPr>
          <a:xfrm>
            <a:off x="365760" y="2770632"/>
            <a:ext cx="7772400" cy="960120"/>
          </a:xfrm>
          <a:prstGeom prst="rect">
            <a:avLst/>
          </a:prstGeom>
          <a:solidFill>
            <a:srgbClr val="282828"/>
          </a:solidFill>
          <a:ln w="12700">
            <a:solidFill>
              <a:srgbClr val="3E3E3E"/>
            </a:solidFill>
            <a:prstDash val="solid"/>
          </a:ln>
        </p:spPr>
        <p:txBody>
          <a:bodyPr/>
          <a:lstStyle/>
          <a:p>
            <a:endParaRPr lang="en-US"/>
          </a:p>
        </p:txBody>
      </p:sp>
      <p:sp>
        <p:nvSpPr>
          <p:cNvPr id="11" name="Shape 9"/>
          <p:cNvSpPr/>
          <p:nvPr/>
        </p:nvSpPr>
        <p:spPr>
          <a:xfrm>
            <a:off x="365760" y="2770632"/>
            <a:ext cx="658368" cy="960120"/>
          </a:xfrm>
          <a:prstGeom prst="rect">
            <a:avLst/>
          </a:prstGeom>
          <a:solidFill>
            <a:srgbClr val="1DB954"/>
          </a:solidFill>
          <a:ln w="12700">
            <a:solidFill>
              <a:srgbClr val="1DB954"/>
            </a:solidFill>
            <a:prstDash val="solid"/>
          </a:ln>
        </p:spPr>
        <p:txBody>
          <a:bodyPr/>
          <a:lstStyle/>
          <a:p>
            <a:endParaRPr lang="en-US"/>
          </a:p>
        </p:txBody>
      </p:sp>
      <p:sp>
        <p:nvSpPr>
          <p:cNvPr id="12" name="Text 10"/>
          <p:cNvSpPr/>
          <p:nvPr/>
        </p:nvSpPr>
        <p:spPr>
          <a:xfrm>
            <a:off x="365760" y="2770632"/>
            <a:ext cx="658368" cy="960120"/>
          </a:xfrm>
          <a:prstGeom prst="rect">
            <a:avLst/>
          </a:prstGeom>
          <a:noFill/>
          <a:ln/>
        </p:spPr>
        <p:txBody>
          <a:bodyPr wrap="square" lIns="0" tIns="0" rIns="0" bIns="0" rtlCol="0" anchor="ctr"/>
          <a:lstStyle/>
          <a:p>
            <a:pPr marL="0" indent="0" algn="ctr">
              <a:buNone/>
            </a:pPr>
            <a:r>
              <a:rPr lang="en-US" sz="2000" b="1" dirty="0">
                <a:solidFill>
                  <a:srgbClr val="121212"/>
                </a:solidFill>
                <a:latin typeface="Trebuchet MS" pitchFamily="34" charset="0"/>
                <a:ea typeface="Trebuchet MS" pitchFamily="34" charset="-122"/>
                <a:cs typeface="Trebuchet MS" pitchFamily="34" charset="-120"/>
              </a:rPr>
              <a:t>02</a:t>
            </a:r>
            <a:endParaRPr lang="en-US" sz="2000" dirty="0"/>
          </a:p>
        </p:txBody>
      </p:sp>
      <p:sp>
        <p:nvSpPr>
          <p:cNvPr id="13" name="Text 11"/>
          <p:cNvSpPr/>
          <p:nvPr/>
        </p:nvSpPr>
        <p:spPr>
          <a:xfrm>
            <a:off x="1170432" y="2843784"/>
            <a:ext cx="6766560" cy="347472"/>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Build playlists that match moods</a:t>
            </a:r>
            <a:endParaRPr lang="en-US" sz="1700" dirty="0"/>
          </a:p>
        </p:txBody>
      </p:sp>
      <p:sp>
        <p:nvSpPr>
          <p:cNvPr id="14" name="Text 12"/>
          <p:cNvSpPr/>
          <p:nvPr/>
        </p:nvSpPr>
        <p:spPr>
          <a:xfrm>
            <a:off x="1170432" y="3227832"/>
            <a:ext cx="6766560" cy="438912"/>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Energy and danceability scores mean we can put the right track in the right playlist context automatically: fitness, late night, focus, party.</a:t>
            </a:r>
            <a:endParaRPr lang="en-US" sz="1300" dirty="0"/>
          </a:p>
        </p:txBody>
      </p:sp>
      <p:sp>
        <p:nvSpPr>
          <p:cNvPr id="15" name="Shape 13"/>
          <p:cNvSpPr/>
          <p:nvPr/>
        </p:nvSpPr>
        <p:spPr>
          <a:xfrm>
            <a:off x="365760" y="3913632"/>
            <a:ext cx="7772400" cy="960120"/>
          </a:xfrm>
          <a:prstGeom prst="rect">
            <a:avLst/>
          </a:prstGeom>
          <a:solidFill>
            <a:srgbClr val="282828"/>
          </a:solidFill>
          <a:ln w="12700">
            <a:solidFill>
              <a:srgbClr val="3E3E3E"/>
            </a:solidFill>
            <a:prstDash val="solid"/>
          </a:ln>
        </p:spPr>
        <p:txBody>
          <a:bodyPr/>
          <a:lstStyle/>
          <a:p>
            <a:endParaRPr lang="en-US"/>
          </a:p>
        </p:txBody>
      </p:sp>
      <p:sp>
        <p:nvSpPr>
          <p:cNvPr id="16" name="Shape 14"/>
          <p:cNvSpPr/>
          <p:nvPr/>
        </p:nvSpPr>
        <p:spPr>
          <a:xfrm>
            <a:off x="365760" y="3913632"/>
            <a:ext cx="658368" cy="960120"/>
          </a:xfrm>
          <a:prstGeom prst="rect">
            <a:avLst/>
          </a:prstGeom>
          <a:solidFill>
            <a:srgbClr val="1DB954"/>
          </a:solidFill>
          <a:ln w="12700">
            <a:solidFill>
              <a:srgbClr val="1DB954"/>
            </a:solidFill>
            <a:prstDash val="solid"/>
          </a:ln>
        </p:spPr>
        <p:txBody>
          <a:bodyPr/>
          <a:lstStyle/>
          <a:p>
            <a:endParaRPr lang="en-US"/>
          </a:p>
        </p:txBody>
      </p:sp>
      <p:sp>
        <p:nvSpPr>
          <p:cNvPr id="17" name="Text 15"/>
          <p:cNvSpPr/>
          <p:nvPr/>
        </p:nvSpPr>
        <p:spPr>
          <a:xfrm>
            <a:off x="365760" y="3913632"/>
            <a:ext cx="658368" cy="960120"/>
          </a:xfrm>
          <a:prstGeom prst="rect">
            <a:avLst/>
          </a:prstGeom>
          <a:noFill/>
          <a:ln/>
        </p:spPr>
        <p:txBody>
          <a:bodyPr wrap="square" lIns="0" tIns="0" rIns="0" bIns="0" rtlCol="0" anchor="ctr"/>
          <a:lstStyle/>
          <a:p>
            <a:pPr marL="0" indent="0" algn="ctr">
              <a:buNone/>
            </a:pPr>
            <a:r>
              <a:rPr lang="en-US" sz="2000" b="1" dirty="0">
                <a:solidFill>
                  <a:srgbClr val="121212"/>
                </a:solidFill>
                <a:latin typeface="Trebuchet MS" pitchFamily="34" charset="0"/>
                <a:ea typeface="Trebuchet MS" pitchFamily="34" charset="-122"/>
                <a:cs typeface="Trebuchet MS" pitchFamily="34" charset="-120"/>
              </a:rPr>
              <a:t>03</a:t>
            </a:r>
            <a:endParaRPr lang="en-US" sz="2000" dirty="0"/>
          </a:p>
        </p:txBody>
      </p:sp>
      <p:sp>
        <p:nvSpPr>
          <p:cNvPr id="18" name="Text 16"/>
          <p:cNvSpPr/>
          <p:nvPr/>
        </p:nvSpPr>
        <p:spPr>
          <a:xfrm>
            <a:off x="1170432" y="3986784"/>
            <a:ext cx="6766560" cy="347472"/>
          </a:xfrm>
          <a:prstGeom prst="rect">
            <a:avLst/>
          </a:prstGeom>
          <a:noFill/>
          <a:ln/>
        </p:spPr>
        <p:txBody>
          <a:bodyPr wrap="square" lIns="0" tIns="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Catch declining artists earlier</a:t>
            </a:r>
            <a:endParaRPr lang="en-US" sz="1700" dirty="0"/>
          </a:p>
        </p:txBody>
      </p:sp>
      <p:sp>
        <p:nvSpPr>
          <p:cNvPr id="19" name="Text 17"/>
          <p:cNvSpPr/>
          <p:nvPr/>
        </p:nvSpPr>
        <p:spPr>
          <a:xfrm>
            <a:off x="1170432" y="4370832"/>
            <a:ext cx="6766560" cy="438912"/>
          </a:xfrm>
          <a:prstGeom prst="rect">
            <a:avLst/>
          </a:prstGeom>
          <a:noFill/>
          <a:ln/>
        </p:spPr>
        <p:txBody>
          <a:bodyPr wrap="square" lIns="0" tIns="0" rIns="0" bIns="0" rtlCol="0" anchor="ctr"/>
          <a:lstStyle/>
          <a:p>
            <a:pPr marL="0" indent="0">
              <a:buNone/>
            </a:pPr>
            <a:r>
              <a:rPr lang="en-US" sz="1300" dirty="0">
                <a:solidFill>
                  <a:srgbClr val="B3B3B3"/>
                </a:solidFill>
                <a:latin typeface="Calibri" pitchFamily="34" charset="0"/>
                <a:ea typeface="Calibri" pitchFamily="34" charset="-122"/>
                <a:cs typeface="Calibri" pitchFamily="34" charset="-120"/>
              </a:rPr>
              <a:t>Sequential stream comparisons give us an early warning system. We see the dip before it becomes a problem, while there is still time to act.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fa7a1fb-3f48-4fd9-bce0-6283cfafd648}" enabled="1" method="Standard" siteId="{fab6beb5-3604-42df-bddc-f4e9ddd654d5}" contentBits="0" removed="0"/>
</clbl:labelList>
</file>

<file path=docProps/app.xml><?xml version="1.0" encoding="utf-8"?>
<Properties xmlns="http://schemas.openxmlformats.org/officeDocument/2006/extended-properties" xmlns:vt="http://schemas.openxmlformats.org/officeDocument/2006/docPropsVTypes">
  <TotalTime>1</TotalTime>
  <Words>908</Words>
  <Application>Microsoft Office PowerPoint</Application>
  <PresentationFormat>On-screen Show (16:9)</PresentationFormat>
  <Paragraphs>94</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Spotify BI Analysis</dc:title>
  <dc:subject>PptxGenJS Presentation</dc:subject>
  <dc:creator>PptxGenJS</dc:creator>
  <cp:lastModifiedBy>Rohit Sircar</cp:lastModifiedBy>
  <cp:revision>2</cp:revision>
  <dcterms:created xsi:type="dcterms:W3CDTF">2026-03-22T03:42:39Z</dcterms:created>
  <dcterms:modified xsi:type="dcterms:W3CDTF">2026-03-22T03:50:09Z</dcterms:modified>
</cp:coreProperties>
</file>